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10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F4EF96-0315-D363-82BF-F1BAD1E4F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0D2CCC1-A5CD-7031-C3D9-E708CA745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0B226C-D63E-F888-DD63-D4A05AE41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B7D1-FC97-4A92-A193-7534F777F48F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BF0A37-4047-D252-67CB-6E8A890C3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263558-E38E-488E-AA95-73B9072E5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EC12-CE86-4887-96B0-A76AF799A7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949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D51CE1-A5BF-298F-26D5-06AAEF53A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448B45-80FC-FCC0-E0B1-1EA3D7846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357B7F-6EB9-36D6-D9EE-DBE1C5590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B7D1-FC97-4A92-A193-7534F777F48F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564DB1-52C7-F951-A2BC-D650999A7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DC8865-0C08-574E-FD47-DC81B4BEA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EC12-CE86-4887-96B0-A76AF799A7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118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5BE96-17E4-631F-4E50-424F0C2FC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45CDAD-65A5-B445-AE30-038339FB6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4608F9-3265-968A-4979-386CFF0CC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B7D1-FC97-4A92-A193-7534F777F48F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42BFF0-FC4E-2A26-329A-2BC3CDA26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4561C8-32FB-DCB1-1F9E-7F2FFCA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EC12-CE86-4887-96B0-A76AF799A7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5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DC8C03-64B5-2B3A-44C1-2E906FA1C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B49639-0875-23A7-B884-14C5C5F9F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534858-5B49-887C-87DF-77B6F1A7B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168FF0-BE1F-4D58-7CCE-D5A56D50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B7D1-FC97-4A92-A193-7534F777F48F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487742-32A1-781C-2DF4-5CFF19772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466182-7191-50D3-3056-FDE3DD3F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EC12-CE86-4887-96B0-A76AF799A7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62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AA1862-3E6F-5E63-240D-9CE4C948D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C364E4-B381-5ACE-9E26-2526D30C6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5FCCF1-CFBD-FE9C-B405-91942C598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839137C-2F80-C528-B5E5-046D4625F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2A2C881-091C-879E-FCF6-344E66FF92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CCD834-A938-AE23-ECC9-F9BDF62A6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B7D1-FC97-4A92-A193-7534F777F48F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F6E7530-7C02-A531-C273-7B81C0C1A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90DCCBA-C717-0ED2-192D-B9B5199A3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EC12-CE86-4887-96B0-A76AF799A7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751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8C9F57-B91F-E8D2-54B5-E927632C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77E7682-FA2D-5015-ECB2-9B51DB63B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B7D1-FC97-4A92-A193-7534F777F48F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1F0D902-89D6-187C-4222-6208B5EFE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692D7C5-C42B-40E0-6447-A9D580DA8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EC12-CE86-4887-96B0-A76AF799A7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226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6EAB6BE-0999-627A-39D3-5D8BEDC98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B7D1-FC97-4A92-A193-7534F777F48F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F12953E-F868-E870-737B-FF279000E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D52DD7-AC10-10F8-FE6B-0F41505B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EC12-CE86-4887-96B0-A76AF799A7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64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F31341-02DF-577F-B407-6ED6B60C7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B875DF-D2F3-0FDA-3219-C78EA17F0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BC6558-C7CA-E96F-C053-F91ACF99B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F21E62-DD86-E489-80AC-3573CBE9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B7D1-FC97-4A92-A193-7534F777F48F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898B26-1F45-C57A-87CE-811CD3552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04C17B-FFCD-BA42-E07D-104CF5C7F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EC12-CE86-4887-96B0-A76AF799A7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460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09A850-CBC2-02E0-4023-7D4B208CD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B2DCD9B-463B-B383-EE53-9DE98475FB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F13821-0C13-BD4E-EDC5-27FAEB57C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C9C78F-F965-161A-7216-F0E1421E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B7D1-FC97-4A92-A193-7534F777F48F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70B5CB-EA0E-159A-BE84-09C4B65E4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9F01F2-F01F-D387-CE5A-072FACFFA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EC12-CE86-4887-96B0-A76AF799A7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451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33FC68-FF83-D4E9-1253-8E18737FD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C7CE33-A002-3A35-D084-91B8BE8A3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8190FD-5CA0-4FB1-757F-9CC475A8F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B7D1-FC97-4A92-A193-7534F777F48F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DB7EA1-8521-6FD9-15F0-19362EE58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7CD90F-FB13-6274-D99E-25A86322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EC12-CE86-4887-96B0-A76AF799A7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985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5DD8C6F-1E5D-4B2A-FA53-018474BDC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C22FB3D-F255-7B30-6230-1018CF536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D54C8A-59B6-67DB-A1ED-9B8E448D5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B7D1-FC97-4A92-A193-7534F777F48F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3C208E-C754-8895-2434-94BCB639E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58E889-53B1-2AE0-8596-86F3C3836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EC12-CE86-4887-96B0-A76AF799A7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132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A0ABD-B4EE-4C56-A674-BB251BB99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CA38AF-7C1E-61A3-7C28-4504E39DC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F76ACC-4B83-35AB-EA74-C7426EF7B5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8B7D1-FC97-4A92-A193-7534F777F48F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489B00-D520-8147-B44B-54FFDDE23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C32D23-54EB-DFFA-3469-E65F81A22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7CEC12-CE86-4887-96B0-A76AF799A7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00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B0738274-96FD-1F51-7EFF-E5C7F06E02E1}"/>
              </a:ext>
            </a:extLst>
          </p:cNvPr>
          <p:cNvSpPr/>
          <p:nvPr/>
        </p:nvSpPr>
        <p:spPr>
          <a:xfrm>
            <a:off x="8445500" y="-1143000"/>
            <a:ext cx="4953000" cy="4953000"/>
          </a:xfrm>
          <a:prstGeom prst="ellipse">
            <a:avLst/>
          </a:prstGeom>
          <a:solidFill>
            <a:srgbClr val="4DA3FF">
              <a:alpha val="2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4F8ADDE-68BE-5401-7ACD-6958DC58C50E}"/>
              </a:ext>
            </a:extLst>
          </p:cNvPr>
          <p:cNvSpPr/>
          <p:nvPr/>
        </p:nvSpPr>
        <p:spPr>
          <a:xfrm>
            <a:off x="698500" y="736600"/>
            <a:ext cx="2667000" cy="355600"/>
          </a:xfrm>
          <a:prstGeom prst="roundRect">
            <a:avLst/>
          </a:prstGeom>
          <a:solidFill>
            <a:srgbClr val="37D5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CE3E51-5869-566A-407A-10D3A3EE74F7}"/>
              </a:ext>
            </a:extLst>
          </p:cNvPr>
          <p:cNvSpPr txBox="1"/>
          <p:nvPr/>
        </p:nvSpPr>
        <p:spPr>
          <a:xfrm>
            <a:off x="698500" y="800100"/>
            <a:ext cx="266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081018"/>
                </a:solidFill>
                <a:latin typeface="Aptos" panose="020B0004020202020204" pitchFamily="34" charset="0"/>
              </a:rPr>
              <a:t>.NET 10 · REACT · DOCKER</a:t>
            </a:r>
            <a:endParaRPr lang="ru-RU" sz="1000" b="1">
              <a:solidFill>
                <a:srgbClr val="08101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469AA-A943-B106-E24C-9B56C3CB4FB9}"/>
              </a:ext>
            </a:extLst>
          </p:cNvPr>
          <p:cNvSpPr txBox="1"/>
          <p:nvPr/>
        </p:nvSpPr>
        <p:spPr>
          <a:xfrm>
            <a:off x="698500" y="1651000"/>
            <a:ext cx="7747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800" b="1">
                <a:solidFill>
                  <a:srgbClr val="F6F8FA"/>
                </a:solidFill>
                <a:latin typeface="Aptos" panose="020B0004020202020204" pitchFamily="34" charset="0"/>
              </a:rPr>
              <a:t>ASPOTUS</a:t>
            </a:r>
            <a:endParaRPr lang="ru-RU" sz="4800" b="1">
              <a:solidFill>
                <a:srgbClr val="F6F8FA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02DAB9-ED37-EE7C-C9B4-6C00ABF9A0EA}"/>
              </a:ext>
            </a:extLst>
          </p:cNvPr>
          <p:cNvSpPr txBox="1"/>
          <p:nvPr/>
        </p:nvSpPr>
        <p:spPr>
          <a:xfrm>
            <a:off x="736600" y="2794000"/>
            <a:ext cx="850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9FB0BF"/>
                </a:solidFill>
                <a:latin typeface="Aptos" panose="020B0004020202020204" pitchFamily="34" charset="0"/>
              </a:rPr>
              <a:t>Архитектура и технологическое устройство системы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3F1C76-B539-EC54-5E9F-919A92655BB8}"/>
              </a:ext>
            </a:extLst>
          </p:cNvPr>
          <p:cNvSpPr txBox="1"/>
          <p:nvPr/>
        </p:nvSpPr>
        <p:spPr>
          <a:xfrm>
            <a:off x="736600" y="4140200"/>
            <a:ext cx="965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>
                <a:solidFill>
                  <a:srgbClr val="F6F8FA"/>
                </a:solidFill>
                <a:latin typeface="Aptos" panose="020B0004020202020204" pitchFamily="34" charset="0"/>
              </a:rPr>
              <a:t>Каталог автомобилей и запчастей · Заказы · Резервирование · Уведомления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D0200C-4B1A-E62A-3BA5-6CCE4A167C23}"/>
              </a:ext>
            </a:extLst>
          </p:cNvPr>
          <p:cNvSpPr txBox="1"/>
          <p:nvPr/>
        </p:nvSpPr>
        <p:spPr>
          <a:xfrm>
            <a:off x="736600" y="58801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Команда: Антон Лядов · Максим Сафронов · Алексей Силаев · Дмитрий Шадчнев · Елена Карлштейн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7CC3FE-824E-6EA9-7C7F-F7718D1CEF0B}"/>
              </a:ext>
            </a:extLst>
          </p:cNvPr>
          <p:cNvSpPr txBox="1"/>
          <p:nvPr/>
        </p:nvSpPr>
        <p:spPr>
          <a:xfrm>
            <a:off x="533400" y="65405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FB0BF"/>
                </a:solidFill>
                <a:latin typeface="Aptos" panose="020B0004020202020204" pitchFamily="34" charset="0"/>
              </a:rPr>
              <a:t>aspotus-project</a:t>
            </a:r>
            <a:endParaRPr lang="ru-RU" sz="8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5603CB-396F-B058-AE54-4588194C0DB9}"/>
              </a:ext>
            </a:extLst>
          </p:cNvPr>
          <p:cNvSpPr txBox="1"/>
          <p:nvPr/>
        </p:nvSpPr>
        <p:spPr>
          <a:xfrm>
            <a:off x="11239500" y="65151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900" b="1">
                <a:solidFill>
                  <a:srgbClr val="9FB0BF"/>
                </a:solidFill>
                <a:latin typeface="Aptos" panose="020B00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80016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C9642E-A24A-2019-A2D8-7EF7E977B1AA}"/>
              </a:ext>
            </a:extLst>
          </p:cNvPr>
          <p:cNvSpPr txBox="1"/>
          <p:nvPr/>
        </p:nvSpPr>
        <p:spPr>
          <a:xfrm>
            <a:off x="533400" y="279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7D5D5"/>
                </a:solidFill>
                <a:latin typeface="Aptos" panose="020B0004020202020204" pitchFamily="34" charset="0"/>
              </a:rPr>
              <a:t>ASPOTUS · </a:t>
            </a:r>
            <a:r>
              <a:rPr lang="ru-RU" sz="900" b="1">
                <a:solidFill>
                  <a:srgbClr val="37D5D5"/>
                </a:solidFill>
                <a:latin typeface="Aptos" panose="020B0004020202020204" pitchFamily="34" charset="0"/>
              </a:rPr>
              <a:t>АРХИТЕКТУРА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2CF3C8-A456-5D51-66CA-B365E9AB1773}"/>
              </a:ext>
            </a:extLst>
          </p:cNvPr>
          <p:cNvSpPr txBox="1"/>
          <p:nvPr/>
        </p:nvSpPr>
        <p:spPr>
          <a:xfrm>
            <a:off x="533400" y="609600"/>
            <a:ext cx="1111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>
                <a:solidFill>
                  <a:srgbClr val="F6F8FA"/>
                </a:solidFill>
                <a:latin typeface="Aptos" panose="020B0004020202020204" pitchFamily="34" charset="0"/>
              </a:rPr>
              <a:t>Что решает система и для кого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C8FF5A2-F1F5-C81C-DCD0-69884498F05A}"/>
              </a:ext>
            </a:extLst>
          </p:cNvPr>
          <p:cNvSpPr/>
          <p:nvPr/>
        </p:nvSpPr>
        <p:spPr>
          <a:xfrm>
            <a:off x="533400" y="1282700"/>
            <a:ext cx="889000" cy="50800"/>
          </a:xfrm>
          <a:prstGeom prst="rect">
            <a:avLst/>
          </a:prstGeom>
          <a:solidFill>
            <a:srgbClr val="37D5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F5AB06-B2E1-2BD1-3590-5CB14CEB9B2E}"/>
              </a:ext>
            </a:extLst>
          </p:cNvPr>
          <p:cNvSpPr txBox="1"/>
          <p:nvPr/>
        </p:nvSpPr>
        <p:spPr>
          <a:xfrm>
            <a:off x="533400" y="65405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FB0BF"/>
                </a:solidFill>
                <a:latin typeface="Aptos" panose="020B0004020202020204" pitchFamily="34" charset="0"/>
              </a:rPr>
              <a:t>aspotus-project</a:t>
            </a:r>
            <a:endParaRPr lang="ru-RU" sz="8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012A-3C30-70AB-FCA0-7A9A0CB1622F}"/>
              </a:ext>
            </a:extLst>
          </p:cNvPr>
          <p:cNvSpPr txBox="1"/>
          <p:nvPr/>
        </p:nvSpPr>
        <p:spPr>
          <a:xfrm>
            <a:off x="11239500" y="65151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900" b="1">
                <a:solidFill>
                  <a:srgbClr val="9FB0B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2FE4C07-B8EF-A3C5-2022-E42E1B027E83}"/>
              </a:ext>
            </a:extLst>
          </p:cNvPr>
          <p:cNvSpPr/>
          <p:nvPr/>
        </p:nvSpPr>
        <p:spPr>
          <a:xfrm>
            <a:off x="533400" y="1676400"/>
            <a:ext cx="5334000" cy="1778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6EFE4-700B-9BAA-9C86-0630E82D61F8}"/>
              </a:ext>
            </a:extLst>
          </p:cNvPr>
          <p:cNvSpPr txBox="1"/>
          <p:nvPr/>
        </p:nvSpPr>
        <p:spPr>
          <a:xfrm>
            <a:off x="711200" y="1828800"/>
            <a:ext cx="497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b="1">
                <a:solidFill>
                  <a:srgbClr val="4DA3FF"/>
                </a:solidFill>
                <a:latin typeface="Aptos" panose="020B0004020202020204" pitchFamily="34" charset="0"/>
              </a:rPr>
              <a:t>ПОКУПАТЕЛЬ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B679EA-7EB8-FB2E-281A-9AF7869D975C}"/>
              </a:ext>
            </a:extLst>
          </p:cNvPr>
          <p:cNvSpPr txBox="1"/>
          <p:nvPr/>
        </p:nvSpPr>
        <p:spPr>
          <a:xfrm>
            <a:off x="711200" y="2222500"/>
            <a:ext cx="497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>
                <a:solidFill>
                  <a:srgbClr val="9FB0BF"/>
                </a:solidFill>
                <a:latin typeface="Aptos" panose="020B0004020202020204" pitchFamily="34" charset="0"/>
              </a:rPr>
              <a:t>Каталог, поиск, карточка товара, корзина, оформление и история заказов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319A612-33D4-2EF7-4FD3-894F8AEF4311}"/>
              </a:ext>
            </a:extLst>
          </p:cNvPr>
          <p:cNvSpPr/>
          <p:nvPr/>
        </p:nvSpPr>
        <p:spPr>
          <a:xfrm>
            <a:off x="6248400" y="1676400"/>
            <a:ext cx="5334000" cy="1778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37D5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1EC030-6439-70A9-FE82-00F6AA91A971}"/>
              </a:ext>
            </a:extLst>
          </p:cNvPr>
          <p:cNvSpPr txBox="1"/>
          <p:nvPr/>
        </p:nvSpPr>
        <p:spPr>
          <a:xfrm>
            <a:off x="6426200" y="1828800"/>
            <a:ext cx="497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b="1">
                <a:solidFill>
                  <a:srgbClr val="37D5D5"/>
                </a:solidFill>
                <a:latin typeface="Aptos" panose="020B0004020202020204" pitchFamily="34" charset="0"/>
              </a:rPr>
              <a:t>МОДЕРАТОР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E24477-D178-4523-50F9-A2DE845F7FAE}"/>
              </a:ext>
            </a:extLst>
          </p:cNvPr>
          <p:cNvSpPr txBox="1"/>
          <p:nvPr/>
        </p:nvSpPr>
        <p:spPr>
          <a:xfrm>
            <a:off x="6426200" y="2222500"/>
            <a:ext cx="497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>
                <a:solidFill>
                  <a:srgbClr val="9FB0BF"/>
                </a:solidFill>
                <a:latin typeface="Aptos" panose="020B0004020202020204" pitchFamily="34" charset="0"/>
              </a:rPr>
              <a:t>Управление брендами, моделями, поколениями, автомобилями и запчастями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2264F5C-EE88-58DE-0C7F-8E8B7634DE24}"/>
              </a:ext>
            </a:extLst>
          </p:cNvPr>
          <p:cNvSpPr/>
          <p:nvPr/>
        </p:nvSpPr>
        <p:spPr>
          <a:xfrm>
            <a:off x="533400" y="3860800"/>
            <a:ext cx="5334000" cy="1778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C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1DB444-64BD-8E39-5C62-9FF6F1342850}"/>
              </a:ext>
            </a:extLst>
          </p:cNvPr>
          <p:cNvSpPr txBox="1"/>
          <p:nvPr/>
        </p:nvSpPr>
        <p:spPr>
          <a:xfrm>
            <a:off x="711200" y="4013200"/>
            <a:ext cx="497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b="1">
                <a:solidFill>
                  <a:srgbClr val="FFC857"/>
                </a:solidFill>
                <a:latin typeface="Aptos" panose="020B0004020202020204" pitchFamily="34" charset="0"/>
              </a:rPr>
              <a:t>ОПЕРАТОР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19F1E2-0595-AE1A-06DF-88A424362F81}"/>
              </a:ext>
            </a:extLst>
          </p:cNvPr>
          <p:cNvSpPr txBox="1"/>
          <p:nvPr/>
        </p:nvSpPr>
        <p:spPr>
          <a:xfrm>
            <a:off x="711200" y="4406900"/>
            <a:ext cx="497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>
                <a:solidFill>
                  <a:srgbClr val="9FB0BF"/>
                </a:solidFill>
                <a:latin typeface="Aptos" panose="020B0004020202020204" pitchFamily="34" charset="0"/>
              </a:rPr>
              <a:t>Работа с реальными заказами и перевод по допустимым статусам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73ED5FC-9CE0-F932-15D2-EBA6322FB5EF}"/>
              </a:ext>
            </a:extLst>
          </p:cNvPr>
          <p:cNvSpPr/>
          <p:nvPr/>
        </p:nvSpPr>
        <p:spPr>
          <a:xfrm>
            <a:off x="6248400" y="3860800"/>
            <a:ext cx="5334000" cy="1778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A78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262C80-7387-9B2B-95AC-E8B051D77AF9}"/>
              </a:ext>
            </a:extLst>
          </p:cNvPr>
          <p:cNvSpPr txBox="1"/>
          <p:nvPr/>
        </p:nvSpPr>
        <p:spPr>
          <a:xfrm>
            <a:off x="6426200" y="4013200"/>
            <a:ext cx="497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b="1">
                <a:solidFill>
                  <a:srgbClr val="A78BFA"/>
                </a:solidFill>
                <a:latin typeface="Aptos" panose="020B0004020202020204" pitchFamily="34" charset="0"/>
              </a:rPr>
              <a:t>АДМИНИСТРАТОР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353110-A563-070B-D533-57339D32C84F}"/>
              </a:ext>
            </a:extLst>
          </p:cNvPr>
          <p:cNvSpPr txBox="1"/>
          <p:nvPr/>
        </p:nvSpPr>
        <p:spPr>
          <a:xfrm>
            <a:off x="6426200" y="4406900"/>
            <a:ext cx="497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>
                <a:solidFill>
                  <a:srgbClr val="9FB0BF"/>
                </a:solidFill>
                <a:latin typeface="Aptos" panose="020B0004020202020204" pitchFamily="34" charset="0"/>
              </a:rPr>
              <a:t>Пользователи, роли, каталог, заказы и общие показатели</a:t>
            </a:r>
          </a:p>
        </p:txBody>
      </p:sp>
    </p:spTree>
    <p:extLst>
      <p:ext uri="{BB962C8B-B14F-4D97-AF65-F5344CB8AC3E}">
        <p14:creationId xmlns:p14="http://schemas.microsoft.com/office/powerpoint/2010/main" val="3576967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2EFAB2-3CCC-A8D6-5896-FC26D771EFAA}"/>
              </a:ext>
            </a:extLst>
          </p:cNvPr>
          <p:cNvSpPr txBox="1"/>
          <p:nvPr/>
        </p:nvSpPr>
        <p:spPr>
          <a:xfrm>
            <a:off x="533400" y="279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7D5D5"/>
                </a:solidFill>
                <a:latin typeface="Aptos" panose="020B0004020202020204" pitchFamily="34" charset="0"/>
              </a:rPr>
              <a:t>ASPOTUS · </a:t>
            </a:r>
            <a:r>
              <a:rPr lang="ru-RU" sz="900" b="1">
                <a:solidFill>
                  <a:srgbClr val="37D5D5"/>
                </a:solidFill>
                <a:latin typeface="Aptos" panose="020B0004020202020204" pitchFamily="34" charset="0"/>
              </a:rPr>
              <a:t>АРХИТЕКТУРА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AEDBBE-FE34-3BE4-909D-0ABD9FEE1675}"/>
              </a:ext>
            </a:extLst>
          </p:cNvPr>
          <p:cNvSpPr txBox="1"/>
          <p:nvPr/>
        </p:nvSpPr>
        <p:spPr>
          <a:xfrm>
            <a:off x="533400" y="609600"/>
            <a:ext cx="1111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>
                <a:solidFill>
                  <a:srgbClr val="F6F8FA"/>
                </a:solidFill>
                <a:latin typeface="Aptos" panose="020B0004020202020204" pitchFamily="34" charset="0"/>
              </a:rPr>
              <a:t>Как читать архитектурные схемы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E3EABE1-7173-56B1-FDA0-0BB79368B30F}"/>
              </a:ext>
            </a:extLst>
          </p:cNvPr>
          <p:cNvSpPr/>
          <p:nvPr/>
        </p:nvSpPr>
        <p:spPr>
          <a:xfrm>
            <a:off x="533400" y="1282700"/>
            <a:ext cx="889000" cy="50800"/>
          </a:xfrm>
          <a:prstGeom prst="rect">
            <a:avLst/>
          </a:prstGeom>
          <a:solidFill>
            <a:srgbClr val="37D5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68659-D8FE-25CA-C143-08E96D3E4CC0}"/>
              </a:ext>
            </a:extLst>
          </p:cNvPr>
          <p:cNvSpPr txBox="1"/>
          <p:nvPr/>
        </p:nvSpPr>
        <p:spPr>
          <a:xfrm>
            <a:off x="533400" y="65405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FB0BF"/>
                </a:solidFill>
                <a:latin typeface="Aptos" panose="020B0004020202020204" pitchFamily="34" charset="0"/>
              </a:rPr>
              <a:t>aspotus-project</a:t>
            </a:r>
            <a:endParaRPr lang="ru-RU" sz="8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F25874-E8B7-E707-0AAD-0D0E3825B44B}"/>
              </a:ext>
            </a:extLst>
          </p:cNvPr>
          <p:cNvSpPr txBox="1"/>
          <p:nvPr/>
        </p:nvSpPr>
        <p:spPr>
          <a:xfrm>
            <a:off x="11239500" y="65151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900" b="1">
                <a:solidFill>
                  <a:srgbClr val="9FB0B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B25B7-9C16-CFF3-ABEB-80EDA88B925F}"/>
              </a:ext>
            </a:extLst>
          </p:cNvPr>
          <p:cNvSpPr txBox="1"/>
          <p:nvPr/>
        </p:nvSpPr>
        <p:spPr>
          <a:xfrm>
            <a:off x="533400" y="1435100"/>
            <a:ext cx="11112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400">
                <a:solidFill>
                  <a:srgbClr val="9FB0BF"/>
                </a:solidFill>
                <a:latin typeface="Aptos" panose="020B0004020202020204" pitchFamily="34" charset="0"/>
              </a:rPr>
              <a:t>Короткий словарь: что означает каждый технический термин и зачем он нужен системе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F249778-DFAE-0B12-7A59-E7EEBD1C20BF}"/>
              </a:ext>
            </a:extLst>
          </p:cNvPr>
          <p:cNvSpPr/>
          <p:nvPr/>
        </p:nvSpPr>
        <p:spPr>
          <a:xfrm>
            <a:off x="533400" y="1905000"/>
            <a:ext cx="3365500" cy="1778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37D5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3295E6-DC94-5B55-0B4E-E7B6AE8E75CA}"/>
              </a:ext>
            </a:extLst>
          </p:cNvPr>
          <p:cNvSpPr txBox="1"/>
          <p:nvPr/>
        </p:nvSpPr>
        <p:spPr>
          <a:xfrm>
            <a:off x="711200" y="2057400"/>
            <a:ext cx="30099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37D5D5"/>
                </a:solidFill>
                <a:latin typeface="Aptos" panose="020B0004020202020204" pitchFamily="34" charset="0"/>
              </a:rPr>
              <a:t>API GATEWAY</a:t>
            </a:r>
            <a:endParaRPr lang="ru-RU" sz="1500" b="1">
              <a:solidFill>
                <a:srgbClr val="37D5D5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09AB6C-A4E1-26AA-E040-244BBDBDD5B3}"/>
              </a:ext>
            </a:extLst>
          </p:cNvPr>
          <p:cNvSpPr txBox="1"/>
          <p:nvPr/>
        </p:nvSpPr>
        <p:spPr>
          <a:xfrm>
            <a:off x="711200" y="2451100"/>
            <a:ext cx="30099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Единая «входная дверь». Проверяет токен и роль, затем отправляет запрос нужному сервису.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EEB24E79-F095-2215-E28A-59E913AB253E}"/>
              </a:ext>
            </a:extLst>
          </p:cNvPr>
          <p:cNvSpPr/>
          <p:nvPr/>
        </p:nvSpPr>
        <p:spPr>
          <a:xfrm>
            <a:off x="4267200" y="1905000"/>
            <a:ext cx="3365500" cy="1778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5C5A56-56CB-428B-65BA-AF5E706A6669}"/>
              </a:ext>
            </a:extLst>
          </p:cNvPr>
          <p:cNvSpPr txBox="1"/>
          <p:nvPr/>
        </p:nvSpPr>
        <p:spPr>
          <a:xfrm>
            <a:off x="4445000" y="2057400"/>
            <a:ext cx="30099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 b="1">
                <a:solidFill>
                  <a:srgbClr val="4DA3FF"/>
                </a:solidFill>
                <a:latin typeface="Aptos" panose="020B0004020202020204" pitchFamily="34" charset="0"/>
              </a:rPr>
              <a:t>СЕРВИС / </a:t>
            </a:r>
            <a:r>
              <a:rPr lang="en-US" sz="1500" b="1">
                <a:solidFill>
                  <a:srgbClr val="4DA3FF"/>
                </a:solidFill>
                <a:latin typeface="Aptos" panose="020B0004020202020204" pitchFamily="34" charset="0"/>
              </a:rPr>
              <a:t>API</a:t>
            </a:r>
            <a:endParaRPr lang="ru-RU" sz="1500" b="1">
              <a:solidFill>
                <a:srgbClr val="4DA3FF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7D39D3-4B38-F071-5068-2F3B66BDBCA2}"/>
              </a:ext>
            </a:extLst>
          </p:cNvPr>
          <p:cNvSpPr txBox="1"/>
          <p:nvPr/>
        </p:nvSpPr>
        <p:spPr>
          <a:xfrm>
            <a:off x="4445000" y="2451100"/>
            <a:ext cx="3009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Отдельный модуль для одной бизнес-области: каталог, заказы, файлы или уведомления.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2E43E6C-7766-4E97-C553-0226A0C8402A}"/>
              </a:ext>
            </a:extLst>
          </p:cNvPr>
          <p:cNvSpPr/>
          <p:nvPr/>
        </p:nvSpPr>
        <p:spPr>
          <a:xfrm>
            <a:off x="8001000" y="1905000"/>
            <a:ext cx="3365500" cy="1778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55D6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95777A-409C-CE53-31B7-C12FF9668944}"/>
              </a:ext>
            </a:extLst>
          </p:cNvPr>
          <p:cNvSpPr txBox="1"/>
          <p:nvPr/>
        </p:nvSpPr>
        <p:spPr>
          <a:xfrm>
            <a:off x="8178800" y="2057400"/>
            <a:ext cx="30099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 b="1">
                <a:solidFill>
                  <a:srgbClr val="55D68B"/>
                </a:solidFill>
                <a:latin typeface="Aptos" panose="020B0004020202020204" pitchFamily="34" charset="0"/>
              </a:rPr>
              <a:t>БАЗА ДАННЫХ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3C5D0F-B7C7-1A5A-D486-F129F044371D}"/>
              </a:ext>
            </a:extLst>
          </p:cNvPr>
          <p:cNvSpPr txBox="1"/>
          <p:nvPr/>
        </p:nvSpPr>
        <p:spPr>
          <a:xfrm>
            <a:off x="8178800" y="2451100"/>
            <a:ext cx="3009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Собственная долговременная память сервиса. Общей базы между сервисами нет.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9019E51E-C424-43BF-AC39-4AC69705D234}"/>
              </a:ext>
            </a:extLst>
          </p:cNvPr>
          <p:cNvSpPr/>
          <p:nvPr/>
        </p:nvSpPr>
        <p:spPr>
          <a:xfrm>
            <a:off x="533400" y="4064000"/>
            <a:ext cx="3365500" cy="1778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6B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253822-62FB-AC24-E95B-99AB6BFD9F8B}"/>
              </a:ext>
            </a:extLst>
          </p:cNvPr>
          <p:cNvSpPr txBox="1"/>
          <p:nvPr/>
        </p:nvSpPr>
        <p:spPr>
          <a:xfrm>
            <a:off x="711200" y="4216400"/>
            <a:ext cx="30099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 b="1">
                <a:solidFill>
                  <a:srgbClr val="FF6B6B"/>
                </a:solidFill>
                <a:latin typeface="Aptos" panose="020B0004020202020204" pitchFamily="34" charset="0"/>
              </a:rPr>
              <a:t>КЭШ / </a:t>
            </a:r>
            <a:r>
              <a:rPr lang="en-US" sz="1500" b="1">
                <a:solidFill>
                  <a:srgbClr val="FF6B6B"/>
                </a:solidFill>
                <a:latin typeface="Aptos" panose="020B0004020202020204" pitchFamily="34" charset="0"/>
              </a:rPr>
              <a:t>REDIS</a:t>
            </a:r>
            <a:endParaRPr lang="ru-RU" sz="1500" b="1">
              <a:solidFill>
                <a:srgbClr val="FF6B6B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1C59D4-2976-8D61-A941-AF0D3F0862D8}"/>
              </a:ext>
            </a:extLst>
          </p:cNvPr>
          <p:cNvSpPr txBox="1"/>
          <p:nvPr/>
        </p:nvSpPr>
        <p:spPr>
          <a:xfrm>
            <a:off x="711200" y="4610100"/>
            <a:ext cx="30099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Быстрая копия часто читаемых данных. Ускоряет ответы, но не является источником истины.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0580C99-5054-00DE-EE60-9D6943E1B794}"/>
              </a:ext>
            </a:extLst>
          </p:cNvPr>
          <p:cNvSpPr/>
          <p:nvPr/>
        </p:nvSpPr>
        <p:spPr>
          <a:xfrm>
            <a:off x="4267200" y="4064000"/>
            <a:ext cx="3365500" cy="1778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C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994FB9-B3BC-84B8-80C1-7B53214F9123}"/>
              </a:ext>
            </a:extLst>
          </p:cNvPr>
          <p:cNvSpPr txBox="1"/>
          <p:nvPr/>
        </p:nvSpPr>
        <p:spPr>
          <a:xfrm>
            <a:off x="4445000" y="4216400"/>
            <a:ext cx="30099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 b="1">
                <a:solidFill>
                  <a:srgbClr val="FFC857"/>
                </a:solidFill>
                <a:latin typeface="Aptos" panose="020B0004020202020204" pitchFamily="34" charset="0"/>
              </a:rPr>
              <a:t>БРОКЕР / </a:t>
            </a:r>
            <a:r>
              <a:rPr lang="en-US" sz="1500" b="1">
                <a:solidFill>
                  <a:srgbClr val="FFC857"/>
                </a:solidFill>
                <a:latin typeface="Aptos" panose="020B0004020202020204" pitchFamily="34" charset="0"/>
              </a:rPr>
              <a:t>RABBITMQ</a:t>
            </a:r>
            <a:endParaRPr lang="ru-RU" sz="1500" b="1">
              <a:solidFill>
                <a:srgbClr val="FFC857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553731-485B-8BBF-8749-9539FBA652A4}"/>
              </a:ext>
            </a:extLst>
          </p:cNvPr>
          <p:cNvSpPr txBox="1"/>
          <p:nvPr/>
        </p:nvSpPr>
        <p:spPr>
          <a:xfrm>
            <a:off x="4445000" y="4610100"/>
            <a:ext cx="30099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Очередь доставки событий. Получатель может обработать сообщение позже и повторить попытку.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E9B6D180-93A2-39BB-C1E4-847DA413CA1C}"/>
              </a:ext>
            </a:extLst>
          </p:cNvPr>
          <p:cNvSpPr/>
          <p:nvPr/>
        </p:nvSpPr>
        <p:spPr>
          <a:xfrm>
            <a:off x="8001000" y="4064000"/>
            <a:ext cx="3365500" cy="1778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A78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B88E65-6A1A-23CB-DD85-123E04B2F66F}"/>
              </a:ext>
            </a:extLst>
          </p:cNvPr>
          <p:cNvSpPr txBox="1"/>
          <p:nvPr/>
        </p:nvSpPr>
        <p:spPr>
          <a:xfrm>
            <a:off x="8178800" y="4216400"/>
            <a:ext cx="30099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78BFA"/>
                </a:solidFill>
                <a:latin typeface="Aptos" panose="020B0004020202020204" pitchFamily="34" charset="0"/>
              </a:rPr>
              <a:t>WORKER</a:t>
            </a:r>
            <a:endParaRPr lang="ru-RU" sz="1500" b="1">
              <a:solidFill>
                <a:srgbClr val="A78BFA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C350BA-5793-0BA7-40EB-7C76CABF1362}"/>
              </a:ext>
            </a:extLst>
          </p:cNvPr>
          <p:cNvSpPr txBox="1"/>
          <p:nvPr/>
        </p:nvSpPr>
        <p:spPr>
          <a:xfrm>
            <a:off x="8178800" y="4610100"/>
            <a:ext cx="30099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Фоновый процесс без интерфейса: читает очередь, выполняет работу и защищается от дублей.</a:t>
            </a:r>
          </a:p>
        </p:txBody>
      </p:sp>
    </p:spTree>
    <p:extLst>
      <p:ext uri="{BB962C8B-B14F-4D97-AF65-F5344CB8AC3E}">
        <p14:creationId xmlns:p14="http://schemas.microsoft.com/office/powerpoint/2010/main" val="387326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E3991B-5D2D-A53F-D62A-58C0A305D3B1}"/>
              </a:ext>
            </a:extLst>
          </p:cNvPr>
          <p:cNvSpPr txBox="1"/>
          <p:nvPr/>
        </p:nvSpPr>
        <p:spPr>
          <a:xfrm>
            <a:off x="533400" y="279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7D5D5"/>
                </a:solidFill>
                <a:latin typeface="Aptos" panose="020B0004020202020204" pitchFamily="34" charset="0"/>
              </a:rPr>
              <a:t>ASPOTUS · </a:t>
            </a:r>
            <a:r>
              <a:rPr lang="ru-RU" sz="900" b="1">
                <a:solidFill>
                  <a:srgbClr val="37D5D5"/>
                </a:solidFill>
                <a:latin typeface="Aptos" panose="020B0004020202020204" pitchFamily="34" charset="0"/>
              </a:rPr>
              <a:t>АРХИТЕКТУРА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783238-B4A4-5A5C-C23D-F1720AFEB81C}"/>
              </a:ext>
            </a:extLst>
          </p:cNvPr>
          <p:cNvSpPr txBox="1"/>
          <p:nvPr/>
        </p:nvSpPr>
        <p:spPr>
          <a:xfrm>
            <a:off x="533400" y="609600"/>
            <a:ext cx="1111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>
                <a:solidFill>
                  <a:srgbClr val="F6F8FA"/>
                </a:solidFill>
                <a:latin typeface="Aptos" panose="020B0004020202020204" pitchFamily="34" charset="0"/>
              </a:rPr>
              <a:t>Карта системы: от браузера до данных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B607F63-138B-8511-CDAB-E5DB20E7FBCE}"/>
              </a:ext>
            </a:extLst>
          </p:cNvPr>
          <p:cNvSpPr/>
          <p:nvPr/>
        </p:nvSpPr>
        <p:spPr>
          <a:xfrm>
            <a:off x="533400" y="1282700"/>
            <a:ext cx="889000" cy="50800"/>
          </a:xfrm>
          <a:prstGeom prst="rect">
            <a:avLst/>
          </a:prstGeom>
          <a:solidFill>
            <a:srgbClr val="37D5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9074D2-A94B-1B96-5834-1E61E04CE221}"/>
              </a:ext>
            </a:extLst>
          </p:cNvPr>
          <p:cNvSpPr txBox="1"/>
          <p:nvPr/>
        </p:nvSpPr>
        <p:spPr>
          <a:xfrm>
            <a:off x="533400" y="65405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FB0BF"/>
                </a:solidFill>
                <a:latin typeface="Aptos" panose="020B0004020202020204" pitchFamily="34" charset="0"/>
              </a:rPr>
              <a:t>aspotus-project</a:t>
            </a:r>
            <a:endParaRPr lang="ru-RU" sz="8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3802E5-74D5-B32A-1A4E-FAA73F19D5D1}"/>
              </a:ext>
            </a:extLst>
          </p:cNvPr>
          <p:cNvSpPr txBox="1"/>
          <p:nvPr/>
        </p:nvSpPr>
        <p:spPr>
          <a:xfrm>
            <a:off x="11239500" y="65151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900" b="1">
                <a:solidFill>
                  <a:srgbClr val="9FB0B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CECD774-56E2-FE3D-3AD2-AFD65CD084A4}"/>
              </a:ext>
            </a:extLst>
          </p:cNvPr>
          <p:cNvSpPr/>
          <p:nvPr/>
        </p:nvSpPr>
        <p:spPr>
          <a:xfrm>
            <a:off x="444500" y="1841500"/>
            <a:ext cx="1968500" cy="1143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BF091A-9678-DC69-86CF-97FE43E25831}"/>
              </a:ext>
            </a:extLst>
          </p:cNvPr>
          <p:cNvSpPr txBox="1"/>
          <p:nvPr/>
        </p:nvSpPr>
        <p:spPr>
          <a:xfrm>
            <a:off x="622300" y="1993900"/>
            <a:ext cx="16129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4DA3FF"/>
                </a:solidFill>
                <a:latin typeface="Aptos" panose="020B0004020202020204" pitchFamily="34" charset="0"/>
              </a:rPr>
              <a:t>Customer Web</a:t>
            </a:r>
            <a:endParaRPr lang="ru-RU" sz="1500" b="1">
              <a:solidFill>
                <a:srgbClr val="4DA3FF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E16AB4-00BB-4491-6D13-D3230F6078AE}"/>
              </a:ext>
            </a:extLst>
          </p:cNvPr>
          <p:cNvSpPr txBox="1"/>
          <p:nvPr/>
        </p:nvSpPr>
        <p:spPr>
          <a:xfrm>
            <a:off x="622300" y="2387600"/>
            <a:ext cx="161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Витрина покупателя
Каталог · корзина · заказы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7F4EC72-5907-87AD-6CEF-BF05321BB228}"/>
              </a:ext>
            </a:extLst>
          </p:cNvPr>
          <p:cNvSpPr/>
          <p:nvPr/>
        </p:nvSpPr>
        <p:spPr>
          <a:xfrm>
            <a:off x="444500" y="3619500"/>
            <a:ext cx="1968500" cy="1143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A78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85147E-B0D5-986F-C0EE-96AF661230FD}"/>
              </a:ext>
            </a:extLst>
          </p:cNvPr>
          <p:cNvSpPr txBox="1"/>
          <p:nvPr/>
        </p:nvSpPr>
        <p:spPr>
          <a:xfrm>
            <a:off x="622300" y="3771900"/>
            <a:ext cx="16129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78BFA"/>
                </a:solidFill>
                <a:latin typeface="Aptos" panose="020B0004020202020204" pitchFamily="34" charset="0"/>
              </a:rPr>
              <a:t>Admin Web</a:t>
            </a:r>
            <a:endParaRPr lang="ru-RU" sz="1500" b="1">
              <a:solidFill>
                <a:srgbClr val="A78BF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52CCC5-6BFA-D826-DDED-A1EE95648E59}"/>
              </a:ext>
            </a:extLst>
          </p:cNvPr>
          <p:cNvSpPr txBox="1"/>
          <p:nvPr/>
        </p:nvSpPr>
        <p:spPr>
          <a:xfrm>
            <a:off x="622300" y="4165600"/>
            <a:ext cx="16129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Рабочее место команды
Контент · пользователи · заказы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A012251-AB17-C5A4-0267-20614002CD00}"/>
              </a:ext>
            </a:extLst>
          </p:cNvPr>
          <p:cNvSpPr/>
          <p:nvPr/>
        </p:nvSpPr>
        <p:spPr>
          <a:xfrm>
            <a:off x="3111500" y="2628900"/>
            <a:ext cx="2095500" cy="14224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37D5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84C563-6BF8-AEB2-F69E-F40C2C31C757}"/>
              </a:ext>
            </a:extLst>
          </p:cNvPr>
          <p:cNvSpPr txBox="1"/>
          <p:nvPr/>
        </p:nvSpPr>
        <p:spPr>
          <a:xfrm>
            <a:off x="3289300" y="2781300"/>
            <a:ext cx="17399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37D5D5"/>
                </a:solidFill>
                <a:latin typeface="Aptos" panose="020B0004020202020204" pitchFamily="34" charset="0"/>
              </a:rPr>
              <a:t>API Gateway</a:t>
            </a:r>
            <a:endParaRPr lang="ru-RU" sz="1500" b="1">
              <a:solidFill>
                <a:srgbClr val="37D5D5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9B1526-B6C6-285C-59A5-06E1F77B7A93}"/>
              </a:ext>
            </a:extLst>
          </p:cNvPr>
          <p:cNvSpPr txBox="1"/>
          <p:nvPr/>
        </p:nvSpPr>
        <p:spPr>
          <a:xfrm>
            <a:off x="3289300" y="3175000"/>
            <a:ext cx="17399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Единая точка входа
Проверяет JWT и роли
Направляет запрос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9BDCEA49-159F-2236-FB1F-88138D3F9A45}"/>
              </a:ext>
            </a:extLst>
          </p:cNvPr>
          <p:cNvSpPr/>
          <p:nvPr/>
        </p:nvSpPr>
        <p:spPr>
          <a:xfrm>
            <a:off x="5943600" y="1460500"/>
            <a:ext cx="2159000" cy="1333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55D6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9E549A-7B45-3575-EF8F-2CC7561DE210}"/>
              </a:ext>
            </a:extLst>
          </p:cNvPr>
          <p:cNvSpPr txBox="1"/>
          <p:nvPr/>
        </p:nvSpPr>
        <p:spPr>
          <a:xfrm>
            <a:off x="6121400" y="1612900"/>
            <a:ext cx="180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5D68B"/>
                </a:solidFill>
                <a:latin typeface="Aptos" panose="020B0004020202020204" pitchFamily="34" charset="0"/>
              </a:rPr>
              <a:t>Catalog API</a:t>
            </a:r>
            <a:endParaRPr lang="ru-RU" sz="1500" b="1">
              <a:solidFill>
                <a:srgbClr val="55D68B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4B1157-6E43-7B47-3D63-F8BE2BA94702}"/>
              </a:ext>
            </a:extLst>
          </p:cNvPr>
          <p:cNvSpPr txBox="1"/>
          <p:nvPr/>
        </p:nvSpPr>
        <p:spPr>
          <a:xfrm>
            <a:off x="6121400" y="2006600"/>
            <a:ext cx="180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Хранит товары и цены
Проверяет наличие
Создаёт резервы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C453CC5-3BFB-9121-4EF4-50FD84A6593F}"/>
              </a:ext>
            </a:extLst>
          </p:cNvPr>
          <p:cNvSpPr/>
          <p:nvPr/>
        </p:nvSpPr>
        <p:spPr>
          <a:xfrm>
            <a:off x="5943600" y="3048000"/>
            <a:ext cx="2159000" cy="1333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C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7C939E-5C19-238D-AA15-7C3633E2B286}"/>
              </a:ext>
            </a:extLst>
          </p:cNvPr>
          <p:cNvSpPr txBox="1"/>
          <p:nvPr/>
        </p:nvSpPr>
        <p:spPr>
          <a:xfrm>
            <a:off x="6121400" y="3200400"/>
            <a:ext cx="180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FFC857"/>
                </a:solidFill>
                <a:latin typeface="Aptos" panose="020B0004020202020204" pitchFamily="34" charset="0"/>
              </a:rPr>
              <a:t>Orders API</a:t>
            </a:r>
            <a:endParaRPr lang="ru-RU" sz="1500" b="1">
              <a:solidFill>
                <a:srgbClr val="FFC857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B07018-0058-AA80-1985-1677891487E1}"/>
              </a:ext>
            </a:extLst>
          </p:cNvPr>
          <p:cNvSpPr txBox="1"/>
          <p:nvPr/>
        </p:nvSpPr>
        <p:spPr>
          <a:xfrm>
            <a:off x="6121400" y="3594100"/>
            <a:ext cx="180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Фиксирует заказ
Меняет статусы
Пишет событие в Outbox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1602C792-6422-1E34-9262-1F9183D5DABD}"/>
              </a:ext>
            </a:extLst>
          </p:cNvPr>
          <p:cNvSpPr/>
          <p:nvPr/>
        </p:nvSpPr>
        <p:spPr>
          <a:xfrm>
            <a:off x="5943600" y="4699000"/>
            <a:ext cx="2159000" cy="1143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A38032-D88A-6D9B-F67D-CFB68C799B79}"/>
              </a:ext>
            </a:extLst>
          </p:cNvPr>
          <p:cNvSpPr txBox="1"/>
          <p:nvPr/>
        </p:nvSpPr>
        <p:spPr>
          <a:xfrm>
            <a:off x="6121400" y="4851400"/>
            <a:ext cx="180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4DA3FF"/>
                </a:solidFill>
                <a:latin typeface="Aptos" panose="020B0004020202020204" pitchFamily="34" charset="0"/>
              </a:rPr>
              <a:t>Files API</a:t>
            </a:r>
            <a:endParaRPr lang="ru-RU" sz="1500" b="1">
              <a:solidFill>
                <a:srgbClr val="4DA3FF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31FBA1-FD60-F9F6-62A5-64158B0664B4}"/>
              </a:ext>
            </a:extLst>
          </p:cNvPr>
          <p:cNvSpPr txBox="1"/>
          <p:nvPr/>
        </p:nvSpPr>
        <p:spPr>
          <a:xfrm>
            <a:off x="6121400" y="52451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Принимает фотографии
Хранит их вне базы каталога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B3450BCA-0FF6-1B7B-FD96-1D4AB1C63310}"/>
              </a:ext>
            </a:extLst>
          </p:cNvPr>
          <p:cNvSpPr/>
          <p:nvPr/>
        </p:nvSpPr>
        <p:spPr>
          <a:xfrm>
            <a:off x="9144000" y="1460500"/>
            <a:ext cx="2286000" cy="1143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55D6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9F99D7-EAF4-65BF-7795-E9663071468B}"/>
              </a:ext>
            </a:extLst>
          </p:cNvPr>
          <p:cNvSpPr txBox="1"/>
          <p:nvPr/>
        </p:nvSpPr>
        <p:spPr>
          <a:xfrm>
            <a:off x="9321800" y="1612900"/>
            <a:ext cx="1930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5D68B"/>
                </a:solidFill>
                <a:latin typeface="Aptos" panose="020B0004020202020204" pitchFamily="34" charset="0"/>
              </a:rPr>
              <a:t>SQLite + Redis</a:t>
            </a:r>
            <a:endParaRPr lang="ru-RU" sz="1500" b="1">
              <a:solidFill>
                <a:srgbClr val="55D68B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1C2A8F-4F96-89A5-6748-83287D428C30}"/>
              </a:ext>
            </a:extLst>
          </p:cNvPr>
          <p:cNvSpPr txBox="1"/>
          <p:nvPr/>
        </p:nvSpPr>
        <p:spPr>
          <a:xfrm>
            <a:off x="9321800" y="20066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Основные данные +
быстрая копия брендов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ECE647E5-6D1E-82FA-ADC2-218E3E4634F3}"/>
              </a:ext>
            </a:extLst>
          </p:cNvPr>
          <p:cNvSpPr/>
          <p:nvPr/>
        </p:nvSpPr>
        <p:spPr>
          <a:xfrm>
            <a:off x="9144000" y="3048000"/>
            <a:ext cx="2286000" cy="1143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C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320942-7B1F-7C3F-041F-5C8EF1E222A7}"/>
              </a:ext>
            </a:extLst>
          </p:cNvPr>
          <p:cNvSpPr txBox="1"/>
          <p:nvPr/>
        </p:nvSpPr>
        <p:spPr>
          <a:xfrm>
            <a:off x="9321800" y="3200400"/>
            <a:ext cx="1930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FC857"/>
                </a:solidFill>
                <a:latin typeface="Aptos" panose="020B0004020202020204" pitchFamily="34" charset="0"/>
              </a:rPr>
              <a:t>SQLite / RabbitMQ</a:t>
            </a:r>
            <a:endParaRPr lang="ru-RU" sz="1400" b="1">
              <a:solidFill>
                <a:srgbClr val="FFC857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B081A2-7325-9785-4401-29F5EAE8065F}"/>
              </a:ext>
            </a:extLst>
          </p:cNvPr>
          <p:cNvSpPr txBox="1"/>
          <p:nvPr/>
        </p:nvSpPr>
        <p:spPr>
          <a:xfrm>
            <a:off x="9321800" y="35941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Заказ хранится в БД;
событие уходит в очередь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EA75FA6D-4091-FC97-44E5-DA05A4291B96}"/>
              </a:ext>
            </a:extLst>
          </p:cNvPr>
          <p:cNvSpPr/>
          <p:nvPr/>
        </p:nvSpPr>
        <p:spPr>
          <a:xfrm>
            <a:off x="9144000" y="4635500"/>
            <a:ext cx="2286000" cy="1143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A78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3FE6B7-F3F1-D48F-76C5-5BCCD54E30FE}"/>
              </a:ext>
            </a:extLst>
          </p:cNvPr>
          <p:cNvSpPr txBox="1"/>
          <p:nvPr/>
        </p:nvSpPr>
        <p:spPr>
          <a:xfrm>
            <a:off x="9321800" y="4787900"/>
            <a:ext cx="1930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78BFA"/>
                </a:solidFill>
                <a:latin typeface="Aptos" panose="020B0004020202020204" pitchFamily="34" charset="0"/>
              </a:rPr>
              <a:t>Notifications</a:t>
            </a:r>
            <a:endParaRPr lang="ru-RU" sz="1500" b="1">
              <a:solidFill>
                <a:srgbClr val="A78BFA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09C10F-320F-FA0C-5EBD-8017C92D17F7}"/>
              </a:ext>
            </a:extLst>
          </p:cNvPr>
          <p:cNvSpPr txBox="1"/>
          <p:nvPr/>
        </p:nvSpPr>
        <p:spPr>
          <a:xfrm>
            <a:off x="9321800" y="51816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Фоновая обработка
без повторных уведомлений</a:t>
            </a:r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1BB4475E-026E-E54E-6EC1-BDF1F5604CF9}"/>
              </a:ext>
            </a:extLst>
          </p:cNvPr>
          <p:cNvCxnSpPr/>
          <p:nvPr/>
        </p:nvCxnSpPr>
        <p:spPr>
          <a:xfrm>
            <a:off x="2413000" y="2362200"/>
            <a:ext cx="698500" cy="685800"/>
          </a:xfrm>
          <a:prstGeom prst="straightConnector1">
            <a:avLst/>
          </a:prstGeom>
          <a:ln w="25400">
            <a:solidFill>
              <a:srgbClr val="4DA3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E1BD16C3-B22D-E303-3479-99AB23A22399}"/>
              </a:ext>
            </a:extLst>
          </p:cNvPr>
          <p:cNvCxnSpPr/>
          <p:nvPr/>
        </p:nvCxnSpPr>
        <p:spPr>
          <a:xfrm flipV="1">
            <a:off x="2413000" y="3429000"/>
            <a:ext cx="698500" cy="711200"/>
          </a:xfrm>
          <a:prstGeom prst="straightConnector1">
            <a:avLst/>
          </a:prstGeom>
          <a:ln w="25400">
            <a:solidFill>
              <a:srgbClr val="A78BF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C96C5B80-1F40-92A8-7043-F3E4931EC107}"/>
              </a:ext>
            </a:extLst>
          </p:cNvPr>
          <p:cNvCxnSpPr/>
          <p:nvPr/>
        </p:nvCxnSpPr>
        <p:spPr>
          <a:xfrm flipV="1">
            <a:off x="5207000" y="2108200"/>
            <a:ext cx="736600" cy="939800"/>
          </a:xfrm>
          <a:prstGeom prst="straightConnector1">
            <a:avLst/>
          </a:prstGeom>
          <a:ln w="25400">
            <a:solidFill>
              <a:srgbClr val="55D6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078B1101-0023-6E3B-2932-1E27DD10D077}"/>
              </a:ext>
            </a:extLst>
          </p:cNvPr>
          <p:cNvCxnSpPr/>
          <p:nvPr/>
        </p:nvCxnSpPr>
        <p:spPr>
          <a:xfrm>
            <a:off x="5207000" y="3302000"/>
            <a:ext cx="736600" cy="381000"/>
          </a:xfrm>
          <a:prstGeom prst="straightConnector1">
            <a:avLst/>
          </a:prstGeom>
          <a:ln w="25400">
            <a:solidFill>
              <a:srgbClr val="FFC85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AA42B8D5-4A32-3744-6D56-877F8D691CBC}"/>
              </a:ext>
            </a:extLst>
          </p:cNvPr>
          <p:cNvCxnSpPr/>
          <p:nvPr/>
        </p:nvCxnSpPr>
        <p:spPr>
          <a:xfrm>
            <a:off x="5207000" y="3556000"/>
            <a:ext cx="736600" cy="1651000"/>
          </a:xfrm>
          <a:prstGeom prst="straightConnector1">
            <a:avLst/>
          </a:prstGeom>
          <a:ln w="25400">
            <a:solidFill>
              <a:srgbClr val="4DA3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56F3FEF4-7752-D888-477D-EF8A16ED4F1B}"/>
              </a:ext>
            </a:extLst>
          </p:cNvPr>
          <p:cNvCxnSpPr/>
          <p:nvPr/>
        </p:nvCxnSpPr>
        <p:spPr>
          <a:xfrm flipV="1">
            <a:off x="8102600" y="1981200"/>
            <a:ext cx="1041400" cy="127000"/>
          </a:xfrm>
          <a:prstGeom prst="straightConnector1">
            <a:avLst/>
          </a:prstGeom>
          <a:ln w="25400">
            <a:solidFill>
              <a:srgbClr val="55D6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C225A56A-C9B6-35A1-83E5-B80CFF32F95E}"/>
              </a:ext>
            </a:extLst>
          </p:cNvPr>
          <p:cNvCxnSpPr/>
          <p:nvPr/>
        </p:nvCxnSpPr>
        <p:spPr>
          <a:xfrm flipV="1">
            <a:off x="8102600" y="3556000"/>
            <a:ext cx="1041400" cy="127000"/>
          </a:xfrm>
          <a:prstGeom prst="straightConnector1">
            <a:avLst/>
          </a:prstGeom>
          <a:ln w="25400">
            <a:solidFill>
              <a:srgbClr val="FFC85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D7BCDB65-5E09-ABA9-1E5A-23443C432E5F}"/>
              </a:ext>
            </a:extLst>
          </p:cNvPr>
          <p:cNvCxnSpPr/>
          <p:nvPr/>
        </p:nvCxnSpPr>
        <p:spPr>
          <a:xfrm>
            <a:off x="8102600" y="3873500"/>
            <a:ext cx="1041400" cy="1282700"/>
          </a:xfrm>
          <a:prstGeom prst="straightConnector1">
            <a:avLst/>
          </a:prstGeom>
          <a:ln w="25400">
            <a:solidFill>
              <a:srgbClr val="A78BF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374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FE66D6-BF3F-51FD-F4DB-01B84EE92C59}"/>
              </a:ext>
            </a:extLst>
          </p:cNvPr>
          <p:cNvSpPr txBox="1"/>
          <p:nvPr/>
        </p:nvSpPr>
        <p:spPr>
          <a:xfrm>
            <a:off x="533400" y="279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7D5D5"/>
                </a:solidFill>
                <a:latin typeface="Aptos" panose="020B0004020202020204" pitchFamily="34" charset="0"/>
              </a:rPr>
              <a:t>ASPOTUS · </a:t>
            </a:r>
            <a:r>
              <a:rPr lang="ru-RU" sz="900" b="1">
                <a:solidFill>
                  <a:srgbClr val="37D5D5"/>
                </a:solidFill>
                <a:latin typeface="Aptos" panose="020B0004020202020204" pitchFamily="34" charset="0"/>
              </a:rPr>
              <a:t>АРХИТЕКТУРА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D74A2-29D3-B39A-D9B1-C3AF2E606B19}"/>
              </a:ext>
            </a:extLst>
          </p:cNvPr>
          <p:cNvSpPr txBox="1"/>
          <p:nvPr/>
        </p:nvSpPr>
        <p:spPr>
          <a:xfrm>
            <a:off x="533400" y="609600"/>
            <a:ext cx="1111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>
                <a:solidFill>
                  <a:srgbClr val="F6F8FA"/>
                </a:solidFill>
                <a:latin typeface="Aptos" panose="020B0004020202020204" pitchFamily="34" charset="0"/>
              </a:rPr>
              <a:t>Контейнерная топология </a:t>
            </a:r>
            <a:r>
              <a:rPr lang="en-US" sz="2800" b="1">
                <a:solidFill>
                  <a:srgbClr val="F6F8FA"/>
                </a:solidFill>
                <a:latin typeface="Aptos" panose="020B0004020202020204" pitchFamily="34" charset="0"/>
              </a:rPr>
              <a:t>Docker Compose</a:t>
            </a:r>
            <a:endParaRPr lang="ru-RU" sz="2800" b="1">
              <a:solidFill>
                <a:srgbClr val="F6F8FA"/>
              </a:solidFill>
              <a:latin typeface="Aptos" panose="020B00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22908D7-D57F-9DD8-C718-43CD468A1393}"/>
              </a:ext>
            </a:extLst>
          </p:cNvPr>
          <p:cNvSpPr/>
          <p:nvPr/>
        </p:nvSpPr>
        <p:spPr>
          <a:xfrm>
            <a:off x="533400" y="1282700"/>
            <a:ext cx="889000" cy="50800"/>
          </a:xfrm>
          <a:prstGeom prst="rect">
            <a:avLst/>
          </a:prstGeom>
          <a:solidFill>
            <a:srgbClr val="37D5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6DC20B-03F3-C4A9-891F-6A76DF3EDC9A}"/>
              </a:ext>
            </a:extLst>
          </p:cNvPr>
          <p:cNvSpPr txBox="1"/>
          <p:nvPr/>
        </p:nvSpPr>
        <p:spPr>
          <a:xfrm>
            <a:off x="533400" y="65405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FB0BF"/>
                </a:solidFill>
                <a:latin typeface="Aptos" panose="020B0004020202020204" pitchFamily="34" charset="0"/>
              </a:rPr>
              <a:t>aspotus-project</a:t>
            </a:r>
            <a:endParaRPr lang="ru-RU" sz="8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AC1C9-9673-144E-6269-62EEDF8BB49E}"/>
              </a:ext>
            </a:extLst>
          </p:cNvPr>
          <p:cNvSpPr txBox="1"/>
          <p:nvPr/>
        </p:nvSpPr>
        <p:spPr>
          <a:xfrm>
            <a:off x="11239500" y="65151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900" b="1">
                <a:solidFill>
                  <a:srgbClr val="9FB0B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913C6-6FF5-F772-AC25-D60BEBEF3466}"/>
              </a:ext>
            </a:extLst>
          </p:cNvPr>
          <p:cNvSpPr txBox="1"/>
          <p:nvPr/>
        </p:nvSpPr>
        <p:spPr>
          <a:xfrm>
            <a:off x="533400" y="1498600"/>
            <a:ext cx="11112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>
                <a:solidFill>
                  <a:srgbClr val="9FB0BF"/>
                </a:solidFill>
                <a:latin typeface="Aptos" panose="020B0004020202020204" pitchFamily="34" charset="0"/>
              </a:rPr>
              <a:t>9 контейнеров · одна backend-сеть · постоянные данные вне жизненного цикла контейнеров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3E6D034-E8D5-0A06-1950-639AE19A5F62}"/>
              </a:ext>
            </a:extLst>
          </p:cNvPr>
          <p:cNvSpPr/>
          <p:nvPr/>
        </p:nvSpPr>
        <p:spPr>
          <a:xfrm>
            <a:off x="533400" y="2095500"/>
            <a:ext cx="3365500" cy="952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CA37B-4C7A-3E04-2689-84C6D4B5CDC5}"/>
              </a:ext>
            </a:extLst>
          </p:cNvPr>
          <p:cNvSpPr txBox="1"/>
          <p:nvPr/>
        </p:nvSpPr>
        <p:spPr>
          <a:xfrm>
            <a:off x="711200" y="22479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4DA3FF"/>
                </a:solidFill>
                <a:latin typeface="Aptos" panose="020B0004020202020204" pitchFamily="34" charset="0"/>
              </a:rPr>
              <a:t>customer-web</a:t>
            </a:r>
            <a:endParaRPr lang="ru-RU" sz="1600" b="1">
              <a:solidFill>
                <a:srgbClr val="4DA3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3C0B2E-2EB7-C876-7229-31F8BE49129A}"/>
              </a:ext>
            </a:extLst>
          </p:cNvPr>
          <p:cNvSpPr txBox="1"/>
          <p:nvPr/>
        </p:nvSpPr>
        <p:spPr>
          <a:xfrm>
            <a:off x="711200" y="2641600"/>
            <a:ext cx="3009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Сайт покупателя · порт 5173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27AC280-6A75-73F1-88B2-CDEFDC27379D}"/>
              </a:ext>
            </a:extLst>
          </p:cNvPr>
          <p:cNvSpPr/>
          <p:nvPr/>
        </p:nvSpPr>
        <p:spPr>
          <a:xfrm>
            <a:off x="4267200" y="2095500"/>
            <a:ext cx="3365500" cy="952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A78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C5D353-104A-BC23-A3E1-353A7C97B1DA}"/>
              </a:ext>
            </a:extLst>
          </p:cNvPr>
          <p:cNvSpPr txBox="1"/>
          <p:nvPr/>
        </p:nvSpPr>
        <p:spPr>
          <a:xfrm>
            <a:off x="4445000" y="22479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A78BFA"/>
                </a:solidFill>
                <a:latin typeface="Aptos" panose="020B0004020202020204" pitchFamily="34" charset="0"/>
              </a:rPr>
              <a:t>admin-web</a:t>
            </a:r>
            <a:endParaRPr lang="ru-RU" sz="1600" b="1">
              <a:solidFill>
                <a:srgbClr val="A78BFA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A0339-0D14-9DB7-FFEA-4EC690470780}"/>
              </a:ext>
            </a:extLst>
          </p:cNvPr>
          <p:cNvSpPr txBox="1"/>
          <p:nvPr/>
        </p:nvSpPr>
        <p:spPr>
          <a:xfrm>
            <a:off x="4445000" y="2641600"/>
            <a:ext cx="3009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Панель команды · порт 5174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B3A66D85-A485-1FC7-059F-7D7B3DAD000E}"/>
              </a:ext>
            </a:extLst>
          </p:cNvPr>
          <p:cNvSpPr/>
          <p:nvPr/>
        </p:nvSpPr>
        <p:spPr>
          <a:xfrm>
            <a:off x="8001000" y="2095500"/>
            <a:ext cx="3365500" cy="952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37D5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E9819C-71D0-162F-F269-79AF7665765F}"/>
              </a:ext>
            </a:extLst>
          </p:cNvPr>
          <p:cNvSpPr txBox="1"/>
          <p:nvPr/>
        </p:nvSpPr>
        <p:spPr>
          <a:xfrm>
            <a:off x="8178800" y="22479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37D5D5"/>
                </a:solidFill>
                <a:latin typeface="Aptos" panose="020B0004020202020204" pitchFamily="34" charset="0"/>
              </a:rPr>
              <a:t>gateway</a:t>
            </a:r>
            <a:endParaRPr lang="ru-RU" sz="1600" b="1">
              <a:solidFill>
                <a:srgbClr val="37D5D5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681692-DD70-8DC8-F1D7-E9E494AD7F77}"/>
              </a:ext>
            </a:extLst>
          </p:cNvPr>
          <p:cNvSpPr txBox="1"/>
          <p:nvPr/>
        </p:nvSpPr>
        <p:spPr>
          <a:xfrm>
            <a:off x="8178800" y="2641600"/>
            <a:ext cx="3009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Общий вход · порт 5230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9453A6DC-4F23-7FD6-D7A0-C4BAF6BF770A}"/>
              </a:ext>
            </a:extLst>
          </p:cNvPr>
          <p:cNvSpPr/>
          <p:nvPr/>
        </p:nvSpPr>
        <p:spPr>
          <a:xfrm>
            <a:off x="533400" y="3390900"/>
            <a:ext cx="3365500" cy="952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55D6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BE6C6E-9659-35FB-2A10-9267831E4F56}"/>
              </a:ext>
            </a:extLst>
          </p:cNvPr>
          <p:cNvSpPr txBox="1"/>
          <p:nvPr/>
        </p:nvSpPr>
        <p:spPr>
          <a:xfrm>
            <a:off x="711200" y="35433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55D68B"/>
                </a:solidFill>
                <a:latin typeface="Aptos" panose="020B0004020202020204" pitchFamily="34" charset="0"/>
              </a:rPr>
              <a:t>catalog-api</a:t>
            </a:r>
            <a:endParaRPr lang="ru-RU" sz="1600" b="1">
              <a:solidFill>
                <a:srgbClr val="55D68B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5B3B6B-50BC-79CE-2907-C78647945105}"/>
              </a:ext>
            </a:extLst>
          </p:cNvPr>
          <p:cNvSpPr txBox="1"/>
          <p:nvPr/>
        </p:nvSpPr>
        <p:spPr>
          <a:xfrm>
            <a:off x="711200" y="3937000"/>
            <a:ext cx="3009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Товары и резервы · порт 5299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531563ED-D794-2451-FCA5-02B944A1BBE6}"/>
              </a:ext>
            </a:extLst>
          </p:cNvPr>
          <p:cNvSpPr/>
          <p:nvPr/>
        </p:nvSpPr>
        <p:spPr>
          <a:xfrm>
            <a:off x="4267200" y="3390900"/>
            <a:ext cx="3365500" cy="952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C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6071DB-B1FA-7064-6267-1FE4C6F5EEF1}"/>
              </a:ext>
            </a:extLst>
          </p:cNvPr>
          <p:cNvSpPr txBox="1"/>
          <p:nvPr/>
        </p:nvSpPr>
        <p:spPr>
          <a:xfrm>
            <a:off x="4445000" y="35433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C857"/>
                </a:solidFill>
                <a:latin typeface="Aptos" panose="020B0004020202020204" pitchFamily="34" charset="0"/>
              </a:rPr>
              <a:t>orders-api</a:t>
            </a:r>
            <a:endParaRPr lang="ru-RU" sz="1600" b="1">
              <a:solidFill>
                <a:srgbClr val="FFC857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D78AB4-668C-1CBB-C64E-783208B24C25}"/>
              </a:ext>
            </a:extLst>
          </p:cNvPr>
          <p:cNvSpPr txBox="1"/>
          <p:nvPr/>
        </p:nvSpPr>
        <p:spPr>
          <a:xfrm>
            <a:off x="4445000" y="3937000"/>
            <a:ext cx="3009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Заказы и статусы · порт 5115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3596C7E3-4523-CCDB-96A7-77A50EAA53C9}"/>
              </a:ext>
            </a:extLst>
          </p:cNvPr>
          <p:cNvSpPr/>
          <p:nvPr/>
        </p:nvSpPr>
        <p:spPr>
          <a:xfrm>
            <a:off x="8001000" y="3390900"/>
            <a:ext cx="3365500" cy="952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F1B80F-5B62-C97D-F273-C68EACEF943C}"/>
              </a:ext>
            </a:extLst>
          </p:cNvPr>
          <p:cNvSpPr txBox="1"/>
          <p:nvPr/>
        </p:nvSpPr>
        <p:spPr>
          <a:xfrm>
            <a:off x="8178800" y="35433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4DA3FF"/>
                </a:solidFill>
                <a:latin typeface="Aptos" panose="020B0004020202020204" pitchFamily="34" charset="0"/>
              </a:rPr>
              <a:t>files-api</a:t>
            </a:r>
            <a:endParaRPr lang="ru-RU" sz="1600" b="1">
              <a:solidFill>
                <a:srgbClr val="4DA3FF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A3D23D-E768-02C7-2F38-E9D3D675F094}"/>
              </a:ext>
            </a:extLst>
          </p:cNvPr>
          <p:cNvSpPr txBox="1"/>
          <p:nvPr/>
        </p:nvSpPr>
        <p:spPr>
          <a:xfrm>
            <a:off x="8178800" y="3937000"/>
            <a:ext cx="3009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Фотографии · порт 5133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DA2557B0-C3A3-8161-E8B8-97FF85982096}"/>
              </a:ext>
            </a:extLst>
          </p:cNvPr>
          <p:cNvSpPr/>
          <p:nvPr/>
        </p:nvSpPr>
        <p:spPr>
          <a:xfrm>
            <a:off x="533400" y="4686300"/>
            <a:ext cx="3365500" cy="952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A78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7279D9-648C-35FF-05A2-8A6828553BD9}"/>
              </a:ext>
            </a:extLst>
          </p:cNvPr>
          <p:cNvSpPr txBox="1"/>
          <p:nvPr/>
        </p:nvSpPr>
        <p:spPr>
          <a:xfrm>
            <a:off x="711200" y="48387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A78BFA"/>
                </a:solidFill>
                <a:latin typeface="Aptos" panose="020B0004020202020204" pitchFamily="34" charset="0"/>
              </a:rPr>
              <a:t>notifications</a:t>
            </a:r>
            <a:endParaRPr lang="ru-RU" sz="1600" b="1">
              <a:solidFill>
                <a:srgbClr val="A78BFA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FC91F9-E3C2-B499-73F4-547695F5940F}"/>
              </a:ext>
            </a:extLst>
          </p:cNvPr>
          <p:cNvSpPr txBox="1"/>
          <p:nvPr/>
        </p:nvSpPr>
        <p:spPr>
          <a:xfrm>
            <a:off x="711200" y="5232400"/>
            <a:ext cx="3009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Фоновая обработка событий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FCD20341-382D-449A-4463-4352FF9BB407}"/>
              </a:ext>
            </a:extLst>
          </p:cNvPr>
          <p:cNvSpPr/>
          <p:nvPr/>
        </p:nvSpPr>
        <p:spPr>
          <a:xfrm>
            <a:off x="4267200" y="4686300"/>
            <a:ext cx="3365500" cy="952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6B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D6ED03-A6A4-AE6B-44BA-EE2B22B020FF}"/>
              </a:ext>
            </a:extLst>
          </p:cNvPr>
          <p:cNvSpPr txBox="1"/>
          <p:nvPr/>
        </p:nvSpPr>
        <p:spPr>
          <a:xfrm>
            <a:off x="4445000" y="48387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6B6B"/>
                </a:solidFill>
                <a:latin typeface="Aptos" panose="020B0004020202020204" pitchFamily="34" charset="0"/>
              </a:rPr>
              <a:t>redis</a:t>
            </a:r>
            <a:endParaRPr lang="ru-RU" sz="1600" b="1">
              <a:solidFill>
                <a:srgbClr val="FF6B6B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C6C971-8C73-8F7A-0472-E6DBABA1EBB3}"/>
              </a:ext>
            </a:extLst>
          </p:cNvPr>
          <p:cNvSpPr txBox="1"/>
          <p:nvPr/>
        </p:nvSpPr>
        <p:spPr>
          <a:xfrm>
            <a:off x="4445000" y="5232400"/>
            <a:ext cx="3009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Ускоряющий кэш · порт 6379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2CBC5A81-0A96-AA8B-2A1C-720CFBEAE4A7}"/>
              </a:ext>
            </a:extLst>
          </p:cNvPr>
          <p:cNvSpPr/>
          <p:nvPr/>
        </p:nvSpPr>
        <p:spPr>
          <a:xfrm>
            <a:off x="8001000" y="4686300"/>
            <a:ext cx="3365500" cy="952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C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614097-86C7-439B-93B4-A37C97A7DC38}"/>
              </a:ext>
            </a:extLst>
          </p:cNvPr>
          <p:cNvSpPr txBox="1"/>
          <p:nvPr/>
        </p:nvSpPr>
        <p:spPr>
          <a:xfrm>
            <a:off x="8178800" y="48387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C857"/>
                </a:solidFill>
                <a:latin typeface="Aptos" panose="020B0004020202020204" pitchFamily="34" charset="0"/>
              </a:rPr>
              <a:t>rabbitmq</a:t>
            </a:r>
            <a:endParaRPr lang="ru-RU" sz="1600" b="1">
              <a:solidFill>
                <a:srgbClr val="FFC857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93DB2A-FB96-5B01-CF15-4A9A43B92034}"/>
              </a:ext>
            </a:extLst>
          </p:cNvPr>
          <p:cNvSpPr txBox="1"/>
          <p:nvPr/>
        </p:nvSpPr>
        <p:spPr>
          <a:xfrm>
            <a:off x="8178800" y="5232400"/>
            <a:ext cx="3009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Очередь · порты 5672 / 15672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728886-2180-9C03-79E4-A30799701B41}"/>
              </a:ext>
            </a:extLst>
          </p:cNvPr>
          <p:cNvSpPr txBox="1"/>
          <p:nvPr/>
        </p:nvSpPr>
        <p:spPr>
          <a:xfrm>
            <a:off x="533400" y="6070600"/>
            <a:ext cx="1111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rgbClr val="9FB0BF"/>
                </a:solidFill>
                <a:latin typeface="Aptos" panose="020B0004020202020204" pitchFamily="34" charset="0"/>
              </a:rPr>
              <a:t>Volumes: gateway.db · catalog.db · orders.db · notifications.db · RabbitMQ data</a:t>
            </a:r>
            <a:endParaRPr lang="ru-RU" sz="12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328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935498-8C8D-5E08-8663-777B236EEB6E}"/>
              </a:ext>
            </a:extLst>
          </p:cNvPr>
          <p:cNvSpPr txBox="1"/>
          <p:nvPr/>
        </p:nvSpPr>
        <p:spPr>
          <a:xfrm>
            <a:off x="533400" y="279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7D5D5"/>
                </a:solidFill>
                <a:latin typeface="Aptos" panose="020B0004020202020204" pitchFamily="34" charset="0"/>
              </a:rPr>
              <a:t>ASPOTUS · </a:t>
            </a:r>
            <a:r>
              <a:rPr lang="ru-RU" sz="900" b="1">
                <a:solidFill>
                  <a:srgbClr val="37D5D5"/>
                </a:solidFill>
                <a:latin typeface="Aptos" panose="020B0004020202020204" pitchFamily="34" charset="0"/>
              </a:rPr>
              <a:t>АРХИТЕКТУРА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6753D7-C066-580B-65CF-4D5AA6EBED89}"/>
              </a:ext>
            </a:extLst>
          </p:cNvPr>
          <p:cNvSpPr txBox="1"/>
          <p:nvPr/>
        </p:nvSpPr>
        <p:spPr>
          <a:xfrm>
            <a:off x="533400" y="609600"/>
            <a:ext cx="1111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F6F8FA"/>
                </a:solidFill>
                <a:latin typeface="Aptos" panose="020B0004020202020204" pitchFamily="34" charset="0"/>
              </a:rPr>
              <a:t>Gateway, </a:t>
            </a:r>
            <a:r>
              <a:rPr lang="ru-RU" sz="2800" b="1">
                <a:solidFill>
                  <a:srgbClr val="F6F8FA"/>
                </a:solidFill>
                <a:latin typeface="Aptos" panose="020B0004020202020204" pitchFamily="34" charset="0"/>
              </a:rPr>
              <a:t>аутентификация и авторизация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6351362-E210-018C-CA66-0170206D0BD8}"/>
              </a:ext>
            </a:extLst>
          </p:cNvPr>
          <p:cNvSpPr/>
          <p:nvPr/>
        </p:nvSpPr>
        <p:spPr>
          <a:xfrm>
            <a:off x="533400" y="1282700"/>
            <a:ext cx="889000" cy="50800"/>
          </a:xfrm>
          <a:prstGeom prst="rect">
            <a:avLst/>
          </a:prstGeom>
          <a:solidFill>
            <a:srgbClr val="37D5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6EB0DB-5CE1-9C51-83E5-D8503353ABAD}"/>
              </a:ext>
            </a:extLst>
          </p:cNvPr>
          <p:cNvSpPr txBox="1"/>
          <p:nvPr/>
        </p:nvSpPr>
        <p:spPr>
          <a:xfrm>
            <a:off x="533400" y="65405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FB0BF"/>
                </a:solidFill>
                <a:latin typeface="Aptos" panose="020B0004020202020204" pitchFamily="34" charset="0"/>
              </a:rPr>
              <a:t>aspotus-project</a:t>
            </a:r>
            <a:endParaRPr lang="ru-RU" sz="8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518D5-C2CE-F46E-F7AD-A382953FE2F1}"/>
              </a:ext>
            </a:extLst>
          </p:cNvPr>
          <p:cNvSpPr txBox="1"/>
          <p:nvPr/>
        </p:nvSpPr>
        <p:spPr>
          <a:xfrm>
            <a:off x="11239500" y="65151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900" b="1">
                <a:solidFill>
                  <a:srgbClr val="9FB0B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3C33743-54A8-56BE-555D-DB817BC368AB}"/>
              </a:ext>
            </a:extLst>
          </p:cNvPr>
          <p:cNvSpPr/>
          <p:nvPr/>
        </p:nvSpPr>
        <p:spPr>
          <a:xfrm>
            <a:off x="609600" y="1905000"/>
            <a:ext cx="2413000" cy="1460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48A00E-A0D6-FCD3-B693-E147CA7075F6}"/>
              </a:ext>
            </a:extLst>
          </p:cNvPr>
          <p:cNvSpPr txBox="1"/>
          <p:nvPr/>
        </p:nvSpPr>
        <p:spPr>
          <a:xfrm>
            <a:off x="787400" y="20574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 b="1">
                <a:solidFill>
                  <a:srgbClr val="4DA3FF"/>
                </a:solidFill>
                <a:latin typeface="Aptos" panose="020B0004020202020204" pitchFamily="34" charset="0"/>
              </a:rPr>
              <a:t>1 · ВХОД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63FD60-FFD6-FD85-9BC9-D3CDE874751F}"/>
              </a:ext>
            </a:extLst>
          </p:cNvPr>
          <p:cNvSpPr txBox="1"/>
          <p:nvPr/>
        </p:nvSpPr>
        <p:spPr>
          <a:xfrm>
            <a:off x="787400" y="24511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Identity проверяет логин и пароль, затем получает роли пользователя.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4EAAD26-80D4-D139-4A7D-79A775B83310}"/>
              </a:ext>
            </a:extLst>
          </p:cNvPr>
          <p:cNvSpPr/>
          <p:nvPr/>
        </p:nvSpPr>
        <p:spPr>
          <a:xfrm>
            <a:off x="3556000" y="1905000"/>
            <a:ext cx="2413000" cy="1460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37D5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633FE4-792F-6CE3-D972-44256930376F}"/>
              </a:ext>
            </a:extLst>
          </p:cNvPr>
          <p:cNvSpPr txBox="1"/>
          <p:nvPr/>
        </p:nvSpPr>
        <p:spPr>
          <a:xfrm>
            <a:off x="3733800" y="20574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37D5D5"/>
                </a:solidFill>
                <a:latin typeface="Aptos" panose="020B0004020202020204" pitchFamily="34" charset="0"/>
              </a:rPr>
              <a:t>2 · JWT</a:t>
            </a:r>
            <a:endParaRPr lang="ru-RU" sz="1500" b="1">
              <a:solidFill>
                <a:srgbClr val="37D5D5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4EC01B-AC95-858B-415A-BDC1CF347381}"/>
              </a:ext>
            </a:extLst>
          </p:cNvPr>
          <p:cNvSpPr txBox="1"/>
          <p:nvPr/>
        </p:nvSpPr>
        <p:spPr>
          <a:xfrm>
            <a:off x="3733800" y="2451100"/>
            <a:ext cx="2057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Подписанный пропуск. Браузер прикладывает его к каждому защищённому запросу.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99C6DEC2-4994-5A98-78D0-432CA0BE1D76}"/>
              </a:ext>
            </a:extLst>
          </p:cNvPr>
          <p:cNvSpPr/>
          <p:nvPr/>
        </p:nvSpPr>
        <p:spPr>
          <a:xfrm>
            <a:off x="6502400" y="1905000"/>
            <a:ext cx="2413000" cy="1460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C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1368AB-2DAE-EABF-AA92-7538549B692A}"/>
              </a:ext>
            </a:extLst>
          </p:cNvPr>
          <p:cNvSpPr txBox="1"/>
          <p:nvPr/>
        </p:nvSpPr>
        <p:spPr>
          <a:xfrm>
            <a:off x="6680200" y="20574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FFC857"/>
                </a:solidFill>
                <a:latin typeface="Aptos" panose="020B0004020202020204" pitchFamily="34" charset="0"/>
              </a:rPr>
              <a:t>3 · RBAC</a:t>
            </a:r>
            <a:endParaRPr lang="ru-RU" sz="1500" b="1">
              <a:solidFill>
                <a:srgbClr val="FFC857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F1A203-1E0E-F82B-81DD-9ED153CF6226}"/>
              </a:ext>
            </a:extLst>
          </p:cNvPr>
          <p:cNvSpPr txBox="1"/>
          <p:nvPr/>
        </p:nvSpPr>
        <p:spPr>
          <a:xfrm>
            <a:off x="6680200" y="2451100"/>
            <a:ext cx="2057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Роль определяет, какие действия доступны покупателю, модератору, оператору или админу.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FAC2B7E2-B6E8-28B4-6D02-166B886484B4}"/>
              </a:ext>
            </a:extLst>
          </p:cNvPr>
          <p:cNvSpPr/>
          <p:nvPr/>
        </p:nvSpPr>
        <p:spPr>
          <a:xfrm>
            <a:off x="9448800" y="1905000"/>
            <a:ext cx="2159000" cy="1460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55D6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1B504D-E804-9CF4-6387-D383C2966E2A}"/>
              </a:ext>
            </a:extLst>
          </p:cNvPr>
          <p:cNvSpPr txBox="1"/>
          <p:nvPr/>
        </p:nvSpPr>
        <p:spPr>
          <a:xfrm>
            <a:off x="9626600" y="2057400"/>
            <a:ext cx="180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5D68B"/>
                </a:solidFill>
                <a:latin typeface="Aptos" panose="020B0004020202020204" pitchFamily="34" charset="0"/>
              </a:rPr>
              <a:t>4 · YARP</a:t>
            </a:r>
            <a:endParaRPr lang="ru-RU" sz="1500" b="1">
              <a:solidFill>
                <a:srgbClr val="55D68B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4218F8-C6C0-255F-6249-A473821DA1B8}"/>
              </a:ext>
            </a:extLst>
          </p:cNvPr>
          <p:cNvSpPr txBox="1"/>
          <p:nvPr/>
        </p:nvSpPr>
        <p:spPr>
          <a:xfrm>
            <a:off x="9626600" y="2451100"/>
            <a:ext cx="180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По префиксу URL выбирает нужный API и удаляет служебную часть пути.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B909C3D1-F390-1364-AF13-759A1DFE0114}"/>
              </a:ext>
            </a:extLst>
          </p:cNvPr>
          <p:cNvCxnSpPr/>
          <p:nvPr/>
        </p:nvCxnSpPr>
        <p:spPr>
          <a:xfrm>
            <a:off x="3022600" y="2540000"/>
            <a:ext cx="533400" cy="0"/>
          </a:xfrm>
          <a:prstGeom prst="straightConnector1">
            <a:avLst/>
          </a:prstGeom>
          <a:ln w="25400">
            <a:solidFill>
              <a:srgbClr val="4DA3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493B1C16-398C-F3C5-0264-064459159FA3}"/>
              </a:ext>
            </a:extLst>
          </p:cNvPr>
          <p:cNvCxnSpPr/>
          <p:nvPr/>
        </p:nvCxnSpPr>
        <p:spPr>
          <a:xfrm>
            <a:off x="5969000" y="2540000"/>
            <a:ext cx="533400" cy="0"/>
          </a:xfrm>
          <a:prstGeom prst="straightConnector1">
            <a:avLst/>
          </a:prstGeom>
          <a:ln w="25400">
            <a:solidFill>
              <a:srgbClr val="37D5D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F1B9D259-E696-C68E-0AC1-5CD441BBF1D3}"/>
              </a:ext>
            </a:extLst>
          </p:cNvPr>
          <p:cNvCxnSpPr/>
          <p:nvPr/>
        </p:nvCxnSpPr>
        <p:spPr>
          <a:xfrm>
            <a:off x="8915400" y="2540000"/>
            <a:ext cx="533400" cy="0"/>
          </a:xfrm>
          <a:prstGeom prst="straightConnector1">
            <a:avLst/>
          </a:prstGeom>
          <a:ln w="25400">
            <a:solidFill>
              <a:srgbClr val="FFC85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B686860-FA90-2C0A-30A9-F9EAAFCDD08F}"/>
              </a:ext>
            </a:extLst>
          </p:cNvPr>
          <p:cNvSpPr txBox="1"/>
          <p:nvPr/>
        </p:nvSpPr>
        <p:spPr>
          <a:xfrm>
            <a:off x="889000" y="40005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400">
                <a:solidFill>
                  <a:srgbClr val="F6F8FA"/>
                </a:solidFill>
                <a:latin typeface="Aptos" panose="020B0004020202020204" pitchFamily="34" charset="0"/>
              </a:rPr>
              <a:t>•  Gateway централизованно применяет правила доступа к proxied endpoints.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81F530-DF66-ED4C-85AB-022649E7E6B9}"/>
              </a:ext>
            </a:extLst>
          </p:cNvPr>
          <p:cNvSpPr txBox="1"/>
          <p:nvPr/>
        </p:nvSpPr>
        <p:spPr>
          <a:xfrm>
            <a:off x="889000" y="44831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F6F8FA"/>
                </a:solidFill>
                <a:latin typeface="Aptos" panose="020B0004020202020204" pitchFamily="34" charset="0"/>
              </a:rPr>
              <a:t>•  В downstream передаются X-User-Id, X-User-Email и X-User-Roles.</a:t>
            </a:r>
            <a:endParaRPr lang="ru-RU" sz="1400">
              <a:solidFill>
                <a:srgbClr val="F6F8FA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D2C940-AEE1-9BE7-8D96-57A6BDDE5E6D}"/>
              </a:ext>
            </a:extLst>
          </p:cNvPr>
          <p:cNvSpPr txBox="1"/>
          <p:nvPr/>
        </p:nvSpPr>
        <p:spPr>
          <a:xfrm>
            <a:off x="889000" y="49657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400">
                <a:solidFill>
                  <a:srgbClr val="F6F8FA"/>
                </a:solidFill>
                <a:latin typeface="Aptos" panose="020B0004020202020204" pitchFamily="34" charset="0"/>
              </a:rPr>
              <a:t>•  Служебный вызов </a:t>
            </a:r>
            <a:r>
              <a:rPr lang="en-US" sz="1400">
                <a:solidFill>
                  <a:srgbClr val="F6F8FA"/>
                </a:solidFill>
                <a:latin typeface="Aptos" panose="020B0004020202020204" pitchFamily="34" charset="0"/>
              </a:rPr>
              <a:t>Orders → Catalog </a:t>
            </a:r>
            <a:r>
              <a:rPr lang="ru-RU" sz="1400">
                <a:solidFill>
                  <a:srgbClr val="F6F8FA"/>
                </a:solidFill>
                <a:latin typeface="Aptos" panose="020B0004020202020204" pitchFamily="34" charset="0"/>
              </a:rPr>
              <a:t>защищён </a:t>
            </a:r>
            <a:r>
              <a:rPr lang="en-US" sz="1400">
                <a:solidFill>
                  <a:srgbClr val="F6F8FA"/>
                </a:solidFill>
                <a:latin typeface="Aptos" panose="020B0004020202020204" pitchFamily="34" charset="0"/>
              </a:rPr>
              <a:t>X-Internal-Api-Key.</a:t>
            </a:r>
            <a:endParaRPr lang="ru-RU" sz="1400">
              <a:solidFill>
                <a:srgbClr val="F6F8FA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7125D4-5B82-957C-0045-ED8DC98C99E4}"/>
              </a:ext>
            </a:extLst>
          </p:cNvPr>
          <p:cNvSpPr txBox="1"/>
          <p:nvPr/>
        </p:nvSpPr>
        <p:spPr>
          <a:xfrm>
            <a:off x="889000" y="54483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400">
                <a:solidFill>
                  <a:srgbClr val="F6F8FA"/>
                </a:solidFill>
                <a:latin typeface="Aptos" panose="020B0004020202020204" pitchFamily="34" charset="0"/>
              </a:rPr>
              <a:t>•  Изменение каталога разрешено ContentModerator/Admin; статусов заказов — Operator/Admin.</a:t>
            </a:r>
          </a:p>
        </p:txBody>
      </p:sp>
    </p:spTree>
    <p:extLst>
      <p:ext uri="{BB962C8B-B14F-4D97-AF65-F5344CB8AC3E}">
        <p14:creationId xmlns:p14="http://schemas.microsoft.com/office/powerpoint/2010/main" val="793962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BF9282-805D-05C9-BC3A-1D6FAEF82A47}"/>
              </a:ext>
            </a:extLst>
          </p:cNvPr>
          <p:cNvSpPr txBox="1"/>
          <p:nvPr/>
        </p:nvSpPr>
        <p:spPr>
          <a:xfrm>
            <a:off x="533400" y="279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7D5D5"/>
                </a:solidFill>
                <a:latin typeface="Aptos" panose="020B0004020202020204" pitchFamily="34" charset="0"/>
              </a:rPr>
              <a:t>ASPOTUS · </a:t>
            </a:r>
            <a:r>
              <a:rPr lang="ru-RU" sz="900" b="1">
                <a:solidFill>
                  <a:srgbClr val="37D5D5"/>
                </a:solidFill>
                <a:latin typeface="Aptos" panose="020B0004020202020204" pitchFamily="34" charset="0"/>
              </a:rPr>
              <a:t>АРХИТЕКТУРА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F1B7A-6BE1-7D93-6283-9D2FFC1F0088}"/>
              </a:ext>
            </a:extLst>
          </p:cNvPr>
          <p:cNvSpPr txBox="1"/>
          <p:nvPr/>
        </p:nvSpPr>
        <p:spPr>
          <a:xfrm>
            <a:off x="533400" y="609600"/>
            <a:ext cx="1111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>
                <a:solidFill>
                  <a:srgbClr val="F6F8FA"/>
                </a:solidFill>
                <a:latin typeface="Aptos" panose="020B0004020202020204" pitchFamily="34" charset="0"/>
              </a:rPr>
              <a:t>Catalog API: владелец товарных данных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93B4A8B-BD4B-5BF7-A97C-BEAF27EB2C36}"/>
              </a:ext>
            </a:extLst>
          </p:cNvPr>
          <p:cNvSpPr/>
          <p:nvPr/>
        </p:nvSpPr>
        <p:spPr>
          <a:xfrm>
            <a:off x="533400" y="1282700"/>
            <a:ext cx="889000" cy="50800"/>
          </a:xfrm>
          <a:prstGeom prst="rect">
            <a:avLst/>
          </a:prstGeom>
          <a:solidFill>
            <a:srgbClr val="37D5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2C532-40CA-6154-5E59-167D544C7EB7}"/>
              </a:ext>
            </a:extLst>
          </p:cNvPr>
          <p:cNvSpPr txBox="1"/>
          <p:nvPr/>
        </p:nvSpPr>
        <p:spPr>
          <a:xfrm>
            <a:off x="533400" y="65405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FB0BF"/>
                </a:solidFill>
                <a:latin typeface="Aptos" panose="020B0004020202020204" pitchFamily="34" charset="0"/>
              </a:rPr>
              <a:t>aspotus-project</a:t>
            </a:r>
            <a:endParaRPr lang="ru-RU" sz="8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DC143-2BD8-E753-A092-69B74FACA1B8}"/>
              </a:ext>
            </a:extLst>
          </p:cNvPr>
          <p:cNvSpPr txBox="1"/>
          <p:nvPr/>
        </p:nvSpPr>
        <p:spPr>
          <a:xfrm>
            <a:off x="11239500" y="65151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900" b="1">
                <a:solidFill>
                  <a:srgbClr val="9FB0B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07CA263-E74F-381F-3420-7B1A70C4A8B5}"/>
              </a:ext>
            </a:extLst>
          </p:cNvPr>
          <p:cNvSpPr/>
          <p:nvPr/>
        </p:nvSpPr>
        <p:spPr>
          <a:xfrm>
            <a:off x="698500" y="1651000"/>
            <a:ext cx="5143500" cy="8636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B510F-AB7A-0DFD-BF95-4CCE868224F6}"/>
              </a:ext>
            </a:extLst>
          </p:cNvPr>
          <p:cNvSpPr txBox="1"/>
          <p:nvPr/>
        </p:nvSpPr>
        <p:spPr>
          <a:xfrm>
            <a:off x="876300" y="1803400"/>
            <a:ext cx="4787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4DA3FF"/>
                </a:solidFill>
                <a:latin typeface="Aptos" panose="020B0004020202020204" pitchFamily="34" charset="0"/>
              </a:rPr>
              <a:t>Controllers</a:t>
            </a:r>
            <a:endParaRPr lang="ru-RU" sz="1600" b="1">
              <a:solidFill>
                <a:srgbClr val="4DA3FF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F84F2E-EC7D-5443-B149-332F4FF3B0D9}"/>
              </a:ext>
            </a:extLst>
          </p:cNvPr>
          <p:cNvSpPr txBox="1"/>
          <p:nvPr/>
        </p:nvSpPr>
        <p:spPr>
          <a:xfrm>
            <a:off x="876300" y="2197100"/>
            <a:ext cx="4787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Принимают HTTP-запросы, проверяют их форму и возвращают коды ответа.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BA57165D-8343-2318-B2CD-F75FF6634917}"/>
              </a:ext>
            </a:extLst>
          </p:cNvPr>
          <p:cNvCxnSpPr/>
          <p:nvPr/>
        </p:nvCxnSpPr>
        <p:spPr>
          <a:xfrm>
            <a:off x="3276600" y="2476500"/>
            <a:ext cx="0" cy="215900"/>
          </a:xfrm>
          <a:prstGeom prst="straightConnector1">
            <a:avLst/>
          </a:prstGeom>
          <a:ln w="25400">
            <a:solidFill>
              <a:srgbClr val="29405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8A9C5946-8619-3307-EEB2-BA4CC3601CE2}"/>
              </a:ext>
            </a:extLst>
          </p:cNvPr>
          <p:cNvSpPr/>
          <p:nvPr/>
        </p:nvSpPr>
        <p:spPr>
          <a:xfrm>
            <a:off x="698500" y="2717800"/>
            <a:ext cx="5143500" cy="8636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37D5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95A810-A4B8-B6DC-0CE6-2A2F1FA29027}"/>
              </a:ext>
            </a:extLst>
          </p:cNvPr>
          <p:cNvSpPr txBox="1"/>
          <p:nvPr/>
        </p:nvSpPr>
        <p:spPr>
          <a:xfrm>
            <a:off x="876300" y="2870200"/>
            <a:ext cx="4787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37D5D5"/>
                </a:solidFill>
                <a:latin typeface="Aptos" panose="020B0004020202020204" pitchFamily="34" charset="0"/>
              </a:rPr>
              <a:t>Services</a:t>
            </a:r>
            <a:endParaRPr lang="ru-RU" sz="1600" b="1">
              <a:solidFill>
                <a:srgbClr val="37D5D5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8DE5D3-74E8-3E0F-EA75-6FDE44B1BE6C}"/>
              </a:ext>
            </a:extLst>
          </p:cNvPr>
          <p:cNvSpPr txBox="1"/>
          <p:nvPr/>
        </p:nvSpPr>
        <p:spPr>
          <a:xfrm>
            <a:off x="876300" y="3263900"/>
            <a:ext cx="4787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Применяют бизнес-правила: нормализацию, валидацию и проверку наличия.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6486B23C-063F-B0FB-FD38-A9260AED6F2F}"/>
              </a:ext>
            </a:extLst>
          </p:cNvPr>
          <p:cNvCxnSpPr/>
          <p:nvPr/>
        </p:nvCxnSpPr>
        <p:spPr>
          <a:xfrm>
            <a:off x="3276600" y="3543300"/>
            <a:ext cx="0" cy="215900"/>
          </a:xfrm>
          <a:prstGeom prst="straightConnector1">
            <a:avLst/>
          </a:prstGeom>
          <a:ln w="25400">
            <a:solidFill>
              <a:srgbClr val="29405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13C97D2-A35F-B249-A84B-AF79CF3A789D}"/>
              </a:ext>
            </a:extLst>
          </p:cNvPr>
          <p:cNvSpPr/>
          <p:nvPr/>
        </p:nvSpPr>
        <p:spPr>
          <a:xfrm>
            <a:off x="698500" y="3784600"/>
            <a:ext cx="5143500" cy="8636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55D6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6A8532-B9A5-40AF-6FD5-40780EE8BFBA}"/>
              </a:ext>
            </a:extLst>
          </p:cNvPr>
          <p:cNvSpPr txBox="1"/>
          <p:nvPr/>
        </p:nvSpPr>
        <p:spPr>
          <a:xfrm>
            <a:off x="876300" y="3937000"/>
            <a:ext cx="4787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55D68B"/>
                </a:solidFill>
                <a:latin typeface="Aptos" panose="020B0004020202020204" pitchFamily="34" charset="0"/>
              </a:rPr>
              <a:t>Repositories</a:t>
            </a:r>
            <a:endParaRPr lang="ru-RU" sz="1600" b="1">
              <a:solidFill>
                <a:srgbClr val="55D68B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FAFA9F-7AE9-9D44-6870-EBBCCE26763C}"/>
              </a:ext>
            </a:extLst>
          </p:cNvPr>
          <p:cNvSpPr txBox="1"/>
          <p:nvPr/>
        </p:nvSpPr>
        <p:spPr>
          <a:xfrm>
            <a:off x="876300" y="4330700"/>
            <a:ext cx="4787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Изолируют EF-запросы и детали чтения или записи данных.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8FC15D02-07F4-2B9F-711B-AAFB0537BCC8}"/>
              </a:ext>
            </a:extLst>
          </p:cNvPr>
          <p:cNvCxnSpPr/>
          <p:nvPr/>
        </p:nvCxnSpPr>
        <p:spPr>
          <a:xfrm>
            <a:off x="3276600" y="4610100"/>
            <a:ext cx="0" cy="215900"/>
          </a:xfrm>
          <a:prstGeom prst="straightConnector1">
            <a:avLst/>
          </a:prstGeom>
          <a:ln w="25400">
            <a:solidFill>
              <a:srgbClr val="29405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1C31840F-244E-5134-931D-58B9423E987C}"/>
              </a:ext>
            </a:extLst>
          </p:cNvPr>
          <p:cNvSpPr/>
          <p:nvPr/>
        </p:nvSpPr>
        <p:spPr>
          <a:xfrm>
            <a:off x="698500" y="4851400"/>
            <a:ext cx="5143500" cy="8636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C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DA1446-2B3E-B95E-D03C-4A696C47C47E}"/>
              </a:ext>
            </a:extLst>
          </p:cNvPr>
          <p:cNvSpPr txBox="1"/>
          <p:nvPr/>
        </p:nvSpPr>
        <p:spPr>
          <a:xfrm>
            <a:off x="876300" y="5003800"/>
            <a:ext cx="4787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C857"/>
                </a:solidFill>
                <a:latin typeface="Aptos" panose="020B0004020202020204" pitchFamily="34" charset="0"/>
              </a:rPr>
              <a:t>EF Core + SQLite</a:t>
            </a:r>
            <a:endParaRPr lang="ru-RU" sz="1600" b="1">
              <a:solidFill>
                <a:srgbClr val="FFC857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E1F01E-04E8-8296-90A0-209CF3BBB352}"/>
              </a:ext>
            </a:extLst>
          </p:cNvPr>
          <p:cNvSpPr txBox="1"/>
          <p:nvPr/>
        </p:nvSpPr>
        <p:spPr>
          <a:xfrm>
            <a:off x="876300" y="5397500"/>
            <a:ext cx="4787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Сохраняют товары, изображения, остатки и резервы в catalog.db.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CA625CB5-4409-3289-6FE3-FB58E56016D9}"/>
              </a:ext>
            </a:extLst>
          </p:cNvPr>
          <p:cNvSpPr/>
          <p:nvPr/>
        </p:nvSpPr>
        <p:spPr>
          <a:xfrm>
            <a:off x="6794500" y="1803400"/>
            <a:ext cx="4572000" cy="1524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6B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84F98F-609C-28F3-7224-334F91AC222D}"/>
              </a:ext>
            </a:extLst>
          </p:cNvPr>
          <p:cNvSpPr txBox="1"/>
          <p:nvPr/>
        </p:nvSpPr>
        <p:spPr>
          <a:xfrm>
            <a:off x="6972300" y="1955800"/>
            <a:ext cx="421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6B6B"/>
                </a:solidFill>
                <a:latin typeface="Aptos" panose="020B0004020202020204" pitchFamily="34" charset="0"/>
              </a:rPr>
              <a:t>Redis cache</a:t>
            </a:r>
            <a:endParaRPr lang="ru-RU" b="1">
              <a:solidFill>
                <a:srgbClr val="FF6B6B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1C5BC7-92BB-5F01-896D-010F5A69F57D}"/>
              </a:ext>
            </a:extLst>
          </p:cNvPr>
          <p:cNvSpPr txBox="1"/>
          <p:nvPr/>
        </p:nvSpPr>
        <p:spPr>
          <a:xfrm>
            <a:off x="6972300" y="2349500"/>
            <a:ext cx="4216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>
                <a:solidFill>
                  <a:srgbClr val="9FB0BF"/>
                </a:solidFill>
                <a:latin typeface="Aptos" panose="020B0004020202020204" pitchFamily="34" charset="0"/>
              </a:rPr>
              <a:t>Кэш списка и отдельных брендов
TTL по умолчанию: 10 минут
При сбое — работа напрямую с SQLite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635448D7-BFE3-7253-C09B-994632BF65E0}"/>
              </a:ext>
            </a:extLst>
          </p:cNvPr>
          <p:cNvSpPr/>
          <p:nvPr/>
        </p:nvSpPr>
        <p:spPr>
          <a:xfrm>
            <a:off x="6794500" y="3683000"/>
            <a:ext cx="4572000" cy="1333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8BF62A-B5E7-71A9-F1BF-BDDB597AEE58}"/>
              </a:ext>
            </a:extLst>
          </p:cNvPr>
          <p:cNvSpPr txBox="1"/>
          <p:nvPr/>
        </p:nvSpPr>
        <p:spPr>
          <a:xfrm>
            <a:off x="6972300" y="3835400"/>
            <a:ext cx="421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4DA3FF"/>
                </a:solidFill>
                <a:latin typeface="Aptos" panose="020B0004020202020204" pitchFamily="34" charset="0"/>
              </a:rPr>
              <a:t>Files API</a:t>
            </a:r>
            <a:endParaRPr lang="ru-RU" b="1">
              <a:solidFill>
                <a:srgbClr val="4DA3FF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6C565C-E8BA-370D-BFB6-702D2194E81B}"/>
              </a:ext>
            </a:extLst>
          </p:cNvPr>
          <p:cNvSpPr txBox="1"/>
          <p:nvPr/>
        </p:nvSpPr>
        <p:spPr>
          <a:xfrm>
            <a:off x="6972300" y="4229100"/>
            <a:ext cx="421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>
                <a:solidFill>
                  <a:srgbClr val="9FB0BF"/>
                </a:solidFill>
                <a:latin typeface="Aptos" panose="020B0004020202020204" pitchFamily="34" charset="0"/>
              </a:rPr>
              <a:t>Загрузка изображений в S3-совместимое хранилище
Каталог хранит file key, URL и порядок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42DBD764-2ACB-D14C-808F-0E983C3CA76A}"/>
              </a:ext>
            </a:extLst>
          </p:cNvPr>
          <p:cNvSpPr/>
          <p:nvPr/>
        </p:nvSpPr>
        <p:spPr>
          <a:xfrm>
            <a:off x="7213600" y="5461000"/>
            <a:ext cx="3733800" cy="355600"/>
          </a:xfrm>
          <a:prstGeom prst="roundRect">
            <a:avLst/>
          </a:prstGeom>
          <a:solidFill>
            <a:srgbClr val="55D6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EFBC04-4AFC-1799-D4CF-DB5B3B900E56}"/>
              </a:ext>
            </a:extLst>
          </p:cNvPr>
          <p:cNvSpPr txBox="1"/>
          <p:nvPr/>
        </p:nvSpPr>
        <p:spPr>
          <a:xfrm>
            <a:off x="7213600" y="5524500"/>
            <a:ext cx="3733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000" b="1">
                <a:solidFill>
                  <a:srgbClr val="081018"/>
                </a:solidFill>
                <a:latin typeface="Aptos" panose="020B0004020202020204" pitchFamily="34" charset="0"/>
              </a:rPr>
              <a:t>Источник истины: цена + наличие + резерв</a:t>
            </a:r>
          </a:p>
        </p:txBody>
      </p:sp>
    </p:spTree>
    <p:extLst>
      <p:ext uri="{BB962C8B-B14F-4D97-AF65-F5344CB8AC3E}">
        <p14:creationId xmlns:p14="http://schemas.microsoft.com/office/powerpoint/2010/main" val="3764247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454A7A-9DF7-8C5C-12E0-91FC29AE9931}"/>
              </a:ext>
            </a:extLst>
          </p:cNvPr>
          <p:cNvSpPr txBox="1"/>
          <p:nvPr/>
        </p:nvSpPr>
        <p:spPr>
          <a:xfrm>
            <a:off x="533400" y="279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7D5D5"/>
                </a:solidFill>
                <a:latin typeface="Aptos" panose="020B0004020202020204" pitchFamily="34" charset="0"/>
              </a:rPr>
              <a:t>ASPOTUS · </a:t>
            </a:r>
            <a:r>
              <a:rPr lang="ru-RU" sz="900" b="1">
                <a:solidFill>
                  <a:srgbClr val="37D5D5"/>
                </a:solidFill>
                <a:latin typeface="Aptos" panose="020B0004020202020204" pitchFamily="34" charset="0"/>
              </a:rPr>
              <a:t>АРХИТЕКТУРА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65FA57-F9A5-7C96-315F-80EC83F28544}"/>
              </a:ext>
            </a:extLst>
          </p:cNvPr>
          <p:cNvSpPr txBox="1"/>
          <p:nvPr/>
        </p:nvSpPr>
        <p:spPr>
          <a:xfrm>
            <a:off x="533400" y="609600"/>
            <a:ext cx="1111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>
                <a:solidFill>
                  <a:srgbClr val="F6F8FA"/>
                </a:solidFill>
                <a:latin typeface="Aptos" panose="020B0004020202020204" pitchFamily="34" charset="0"/>
              </a:rPr>
              <a:t>Оформление заказа: синхронный путь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4B727C2-CE42-3E4F-E18D-967F636ACDA8}"/>
              </a:ext>
            </a:extLst>
          </p:cNvPr>
          <p:cNvSpPr/>
          <p:nvPr/>
        </p:nvSpPr>
        <p:spPr>
          <a:xfrm>
            <a:off x="533400" y="1282700"/>
            <a:ext cx="889000" cy="50800"/>
          </a:xfrm>
          <a:prstGeom prst="rect">
            <a:avLst/>
          </a:prstGeom>
          <a:solidFill>
            <a:srgbClr val="37D5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A113F9-1665-2864-F499-6088B2C8E7F3}"/>
              </a:ext>
            </a:extLst>
          </p:cNvPr>
          <p:cNvSpPr txBox="1"/>
          <p:nvPr/>
        </p:nvSpPr>
        <p:spPr>
          <a:xfrm>
            <a:off x="533400" y="65405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FB0BF"/>
                </a:solidFill>
                <a:latin typeface="Aptos" panose="020B0004020202020204" pitchFamily="34" charset="0"/>
              </a:rPr>
              <a:t>aspotus-project</a:t>
            </a:r>
            <a:endParaRPr lang="ru-RU" sz="8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1B1395-63F8-A647-18F1-520FBDEEA665}"/>
              </a:ext>
            </a:extLst>
          </p:cNvPr>
          <p:cNvSpPr txBox="1"/>
          <p:nvPr/>
        </p:nvSpPr>
        <p:spPr>
          <a:xfrm>
            <a:off x="11239500" y="65151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900" b="1">
                <a:solidFill>
                  <a:srgbClr val="9FB0BF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D9092E4-1EEC-BB46-AD2C-5E37A9918AA0}"/>
              </a:ext>
            </a:extLst>
          </p:cNvPr>
          <p:cNvSpPr/>
          <p:nvPr/>
        </p:nvSpPr>
        <p:spPr>
          <a:xfrm>
            <a:off x="457200" y="1587500"/>
            <a:ext cx="1841500" cy="355600"/>
          </a:xfrm>
          <a:prstGeom prst="roundRect">
            <a:avLst/>
          </a:prstGeom>
          <a:solidFill>
            <a:srgbClr val="4DA3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33C545-46BB-68FE-58F1-682174C8EADF}"/>
              </a:ext>
            </a:extLst>
          </p:cNvPr>
          <p:cNvSpPr txBox="1"/>
          <p:nvPr/>
        </p:nvSpPr>
        <p:spPr>
          <a:xfrm>
            <a:off x="457200" y="1651000"/>
            <a:ext cx="1841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081018"/>
                </a:solidFill>
                <a:latin typeface="Aptos" panose="020B0004020202020204" pitchFamily="34" charset="0"/>
              </a:rPr>
              <a:t>Customer Web</a:t>
            </a:r>
            <a:endParaRPr lang="ru-RU" sz="1000" b="1">
              <a:solidFill>
                <a:srgbClr val="081018"/>
              </a:solidFill>
              <a:latin typeface="Aptos" panose="020B0004020202020204" pitchFamily="34" charset="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8AE7897-9710-88EC-2FF6-CC7F79108557}"/>
              </a:ext>
            </a:extLst>
          </p:cNvPr>
          <p:cNvCxnSpPr/>
          <p:nvPr/>
        </p:nvCxnSpPr>
        <p:spPr>
          <a:xfrm>
            <a:off x="1371600" y="2006600"/>
            <a:ext cx="0" cy="3898900"/>
          </a:xfrm>
          <a:prstGeom prst="line">
            <a:avLst/>
          </a:prstGeom>
          <a:ln>
            <a:solidFill>
              <a:srgbClr val="2940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648D7B2-DF0A-75C2-B407-A7E466DB2A05}"/>
              </a:ext>
            </a:extLst>
          </p:cNvPr>
          <p:cNvSpPr/>
          <p:nvPr/>
        </p:nvSpPr>
        <p:spPr>
          <a:xfrm>
            <a:off x="2806700" y="1587500"/>
            <a:ext cx="1841500" cy="355600"/>
          </a:xfrm>
          <a:prstGeom prst="roundRect">
            <a:avLst/>
          </a:prstGeom>
          <a:solidFill>
            <a:srgbClr val="37D5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BDCE3F-083B-8963-7C81-2604AF0855F1}"/>
              </a:ext>
            </a:extLst>
          </p:cNvPr>
          <p:cNvSpPr txBox="1"/>
          <p:nvPr/>
        </p:nvSpPr>
        <p:spPr>
          <a:xfrm>
            <a:off x="2806700" y="1651000"/>
            <a:ext cx="1841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081018"/>
                </a:solidFill>
                <a:latin typeface="Aptos" panose="020B0004020202020204" pitchFamily="34" charset="0"/>
              </a:rPr>
              <a:t>Gateway</a:t>
            </a:r>
            <a:endParaRPr lang="ru-RU" sz="1000" b="1">
              <a:solidFill>
                <a:srgbClr val="081018"/>
              </a:solidFill>
              <a:latin typeface="Aptos" panose="020B0004020202020204" pitchFamily="34" charset="0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107B3674-C6B0-51FE-1A07-562B721DF4F5}"/>
              </a:ext>
            </a:extLst>
          </p:cNvPr>
          <p:cNvCxnSpPr/>
          <p:nvPr/>
        </p:nvCxnSpPr>
        <p:spPr>
          <a:xfrm>
            <a:off x="3721100" y="2006600"/>
            <a:ext cx="0" cy="3898900"/>
          </a:xfrm>
          <a:prstGeom prst="line">
            <a:avLst/>
          </a:prstGeom>
          <a:ln>
            <a:solidFill>
              <a:srgbClr val="2940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BD304ED-E570-3E35-4CEE-7A87800F478C}"/>
              </a:ext>
            </a:extLst>
          </p:cNvPr>
          <p:cNvSpPr/>
          <p:nvPr/>
        </p:nvSpPr>
        <p:spPr>
          <a:xfrm>
            <a:off x="5156200" y="1587500"/>
            <a:ext cx="1841500" cy="355600"/>
          </a:xfrm>
          <a:prstGeom prst="roundRect">
            <a:avLst/>
          </a:prstGeom>
          <a:solidFill>
            <a:srgbClr val="FFC8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CED7FB-3F04-2403-285F-CE4EEBDA02E1}"/>
              </a:ext>
            </a:extLst>
          </p:cNvPr>
          <p:cNvSpPr txBox="1"/>
          <p:nvPr/>
        </p:nvSpPr>
        <p:spPr>
          <a:xfrm>
            <a:off x="5156200" y="1651000"/>
            <a:ext cx="1841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081018"/>
                </a:solidFill>
                <a:latin typeface="Aptos" panose="020B0004020202020204" pitchFamily="34" charset="0"/>
              </a:rPr>
              <a:t>Orders API</a:t>
            </a:r>
            <a:endParaRPr lang="ru-RU" sz="1000" b="1">
              <a:solidFill>
                <a:srgbClr val="081018"/>
              </a:solidFill>
              <a:latin typeface="Aptos" panose="020B0004020202020204" pitchFamily="34" charset="0"/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BA5B610-2151-6C18-02BB-F6DA09B61D21}"/>
              </a:ext>
            </a:extLst>
          </p:cNvPr>
          <p:cNvCxnSpPr/>
          <p:nvPr/>
        </p:nvCxnSpPr>
        <p:spPr>
          <a:xfrm>
            <a:off x="6070600" y="2006600"/>
            <a:ext cx="0" cy="3898900"/>
          </a:xfrm>
          <a:prstGeom prst="line">
            <a:avLst/>
          </a:prstGeom>
          <a:ln>
            <a:solidFill>
              <a:srgbClr val="2940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8FF9E63-3F89-AA67-A5E8-41F4FEEB66A1}"/>
              </a:ext>
            </a:extLst>
          </p:cNvPr>
          <p:cNvSpPr/>
          <p:nvPr/>
        </p:nvSpPr>
        <p:spPr>
          <a:xfrm>
            <a:off x="7505700" y="1587500"/>
            <a:ext cx="1841500" cy="355600"/>
          </a:xfrm>
          <a:prstGeom prst="roundRect">
            <a:avLst/>
          </a:prstGeom>
          <a:solidFill>
            <a:srgbClr val="55D6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1A6BE9-2BCC-B6DC-295A-6B6C0AEDC65F}"/>
              </a:ext>
            </a:extLst>
          </p:cNvPr>
          <p:cNvSpPr txBox="1"/>
          <p:nvPr/>
        </p:nvSpPr>
        <p:spPr>
          <a:xfrm>
            <a:off x="7505700" y="1651000"/>
            <a:ext cx="1841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081018"/>
                </a:solidFill>
                <a:latin typeface="Aptos" panose="020B0004020202020204" pitchFamily="34" charset="0"/>
              </a:rPr>
              <a:t>Catalog API</a:t>
            </a:r>
            <a:endParaRPr lang="ru-RU" sz="1000" b="1">
              <a:solidFill>
                <a:srgbClr val="081018"/>
              </a:solidFill>
              <a:latin typeface="Aptos" panose="020B0004020202020204" pitchFamily="34" charset="0"/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0C3352E5-8E3D-B90C-4E44-4444A105B96F}"/>
              </a:ext>
            </a:extLst>
          </p:cNvPr>
          <p:cNvCxnSpPr/>
          <p:nvPr/>
        </p:nvCxnSpPr>
        <p:spPr>
          <a:xfrm>
            <a:off x="8420100" y="2006600"/>
            <a:ext cx="0" cy="3898900"/>
          </a:xfrm>
          <a:prstGeom prst="line">
            <a:avLst/>
          </a:prstGeom>
          <a:ln>
            <a:solidFill>
              <a:srgbClr val="2940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17834F8B-CA91-CC33-81B7-CC5216AFF477}"/>
              </a:ext>
            </a:extLst>
          </p:cNvPr>
          <p:cNvSpPr/>
          <p:nvPr/>
        </p:nvSpPr>
        <p:spPr>
          <a:xfrm>
            <a:off x="9855200" y="1587500"/>
            <a:ext cx="1841500" cy="355600"/>
          </a:xfrm>
          <a:prstGeom prst="roundRect">
            <a:avLst/>
          </a:prstGeom>
          <a:solidFill>
            <a:srgbClr val="A78B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62D4DA-DCB5-2909-6802-CD69B371350C}"/>
              </a:ext>
            </a:extLst>
          </p:cNvPr>
          <p:cNvSpPr txBox="1"/>
          <p:nvPr/>
        </p:nvSpPr>
        <p:spPr>
          <a:xfrm>
            <a:off x="9855200" y="1651000"/>
            <a:ext cx="1841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081018"/>
                </a:solidFill>
                <a:latin typeface="Aptos" panose="020B0004020202020204" pitchFamily="34" charset="0"/>
              </a:rPr>
              <a:t>SQLite</a:t>
            </a:r>
            <a:endParaRPr lang="ru-RU" sz="1000" b="1">
              <a:solidFill>
                <a:srgbClr val="081018"/>
              </a:solidFill>
              <a:latin typeface="Aptos" panose="020B0004020202020204" pitchFamily="34" charset="0"/>
            </a:endParaRP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6DD71FF7-CF28-6385-DC7C-E3786F3BF5B6}"/>
              </a:ext>
            </a:extLst>
          </p:cNvPr>
          <p:cNvCxnSpPr/>
          <p:nvPr/>
        </p:nvCxnSpPr>
        <p:spPr>
          <a:xfrm>
            <a:off x="10769600" y="2006600"/>
            <a:ext cx="0" cy="3898900"/>
          </a:xfrm>
          <a:prstGeom prst="line">
            <a:avLst/>
          </a:prstGeom>
          <a:ln>
            <a:solidFill>
              <a:srgbClr val="2940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8E850EA7-354F-0498-C4C5-A395BD6E49DC}"/>
              </a:ext>
            </a:extLst>
          </p:cNvPr>
          <p:cNvCxnSpPr/>
          <p:nvPr/>
        </p:nvCxnSpPr>
        <p:spPr>
          <a:xfrm>
            <a:off x="1371600" y="2540000"/>
            <a:ext cx="2349500" cy="0"/>
          </a:xfrm>
          <a:prstGeom prst="straightConnector1">
            <a:avLst/>
          </a:prstGeom>
          <a:ln w="25400">
            <a:solidFill>
              <a:srgbClr val="4DA3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1CFC941-25EB-81F6-28C4-C81B5B0C35EC}"/>
              </a:ext>
            </a:extLst>
          </p:cNvPr>
          <p:cNvSpPr txBox="1"/>
          <p:nvPr/>
        </p:nvSpPr>
        <p:spPr>
          <a:xfrm>
            <a:off x="1524000" y="2298700"/>
            <a:ext cx="203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9FB0BF"/>
                </a:solidFill>
                <a:latin typeface="Aptos" panose="020B0004020202020204" pitchFamily="34" charset="0"/>
              </a:rPr>
              <a:t>1  POST /orders</a:t>
            </a:r>
            <a:endParaRPr lang="ru-RU" sz="9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54DAAB0C-6ED6-C784-EDD2-35A53A2A1CD9}"/>
              </a:ext>
            </a:extLst>
          </p:cNvPr>
          <p:cNvCxnSpPr/>
          <p:nvPr/>
        </p:nvCxnSpPr>
        <p:spPr>
          <a:xfrm>
            <a:off x="3721100" y="3048000"/>
            <a:ext cx="2349500" cy="0"/>
          </a:xfrm>
          <a:prstGeom prst="straightConnector1">
            <a:avLst/>
          </a:prstGeom>
          <a:ln w="25400">
            <a:solidFill>
              <a:srgbClr val="37D5D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1E51DC6-B783-6BFC-A7FC-04CF1AD39DA5}"/>
              </a:ext>
            </a:extLst>
          </p:cNvPr>
          <p:cNvSpPr txBox="1"/>
          <p:nvPr/>
        </p:nvSpPr>
        <p:spPr>
          <a:xfrm>
            <a:off x="3873500" y="2806700"/>
            <a:ext cx="203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9FB0BF"/>
                </a:solidFill>
                <a:latin typeface="Aptos" panose="020B0004020202020204" pitchFamily="34" charset="0"/>
              </a:rPr>
              <a:t>2  route + identity</a:t>
            </a:r>
            <a:endParaRPr lang="ru-RU" sz="9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16B1D2C7-06B1-A574-AC3D-0ACC0A77A991}"/>
              </a:ext>
            </a:extLst>
          </p:cNvPr>
          <p:cNvCxnSpPr/>
          <p:nvPr/>
        </p:nvCxnSpPr>
        <p:spPr>
          <a:xfrm>
            <a:off x="6070600" y="3619500"/>
            <a:ext cx="2349500" cy="0"/>
          </a:xfrm>
          <a:prstGeom prst="straightConnector1">
            <a:avLst/>
          </a:prstGeom>
          <a:ln w="25400">
            <a:solidFill>
              <a:srgbClr val="FFC85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C045BED-B316-66EF-A094-502798BE169C}"/>
              </a:ext>
            </a:extLst>
          </p:cNvPr>
          <p:cNvSpPr txBox="1"/>
          <p:nvPr/>
        </p:nvSpPr>
        <p:spPr>
          <a:xfrm>
            <a:off x="6223000" y="3378200"/>
            <a:ext cx="203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9FB0BF"/>
                </a:solidFill>
                <a:latin typeface="Aptos" panose="020B0004020202020204" pitchFamily="34" charset="0"/>
              </a:rPr>
              <a:t>3  reserve(orderId)</a:t>
            </a:r>
            <a:endParaRPr lang="ru-RU" sz="9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1BD7E1D7-30A1-F2A1-90E3-EC66CFF916AC}"/>
              </a:ext>
            </a:extLst>
          </p:cNvPr>
          <p:cNvCxnSpPr/>
          <p:nvPr/>
        </p:nvCxnSpPr>
        <p:spPr>
          <a:xfrm>
            <a:off x="8420100" y="4127500"/>
            <a:ext cx="2349500" cy="0"/>
          </a:xfrm>
          <a:prstGeom prst="straightConnector1">
            <a:avLst/>
          </a:prstGeom>
          <a:ln w="25400">
            <a:solidFill>
              <a:srgbClr val="55D6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2EBB105-90FA-E031-5102-332DCA536556}"/>
              </a:ext>
            </a:extLst>
          </p:cNvPr>
          <p:cNvSpPr txBox="1"/>
          <p:nvPr/>
        </p:nvSpPr>
        <p:spPr>
          <a:xfrm>
            <a:off x="8572500" y="3886200"/>
            <a:ext cx="203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9FB0BF"/>
                </a:solidFill>
                <a:latin typeface="Aptos" panose="020B0004020202020204" pitchFamily="34" charset="0"/>
              </a:rPr>
              <a:t>4  price + snapshot</a:t>
            </a:r>
            <a:endParaRPr lang="ru-RU" sz="9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1044E722-7C48-BD33-872F-FCB53FF1CF4F}"/>
              </a:ext>
            </a:extLst>
          </p:cNvPr>
          <p:cNvCxnSpPr/>
          <p:nvPr/>
        </p:nvCxnSpPr>
        <p:spPr>
          <a:xfrm flipH="1">
            <a:off x="6070600" y="4572000"/>
            <a:ext cx="2349500" cy="0"/>
          </a:xfrm>
          <a:prstGeom prst="straightConnector1">
            <a:avLst/>
          </a:prstGeom>
          <a:ln w="25400">
            <a:solidFill>
              <a:srgbClr val="55D6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321FC59-3FDF-EF77-D624-044C59AC01E7}"/>
              </a:ext>
            </a:extLst>
          </p:cNvPr>
          <p:cNvSpPr txBox="1"/>
          <p:nvPr/>
        </p:nvSpPr>
        <p:spPr>
          <a:xfrm>
            <a:off x="6223000" y="4330700"/>
            <a:ext cx="203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9FB0BF"/>
                </a:solidFill>
                <a:latin typeface="Aptos" panose="020B0004020202020204" pitchFamily="34" charset="0"/>
              </a:rPr>
              <a:t>5  trusted data</a:t>
            </a:r>
            <a:endParaRPr lang="ru-RU" sz="9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A8C4B1C7-F951-D249-DFAF-F42D4FC2DC2C}"/>
              </a:ext>
            </a:extLst>
          </p:cNvPr>
          <p:cNvCxnSpPr/>
          <p:nvPr/>
        </p:nvCxnSpPr>
        <p:spPr>
          <a:xfrm>
            <a:off x="6070600" y="5143500"/>
            <a:ext cx="4699000" cy="0"/>
          </a:xfrm>
          <a:prstGeom prst="straightConnector1">
            <a:avLst/>
          </a:prstGeom>
          <a:ln w="25400">
            <a:solidFill>
              <a:srgbClr val="FFC85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9C503E4-40BB-DB00-61A6-382DBEB51F83}"/>
              </a:ext>
            </a:extLst>
          </p:cNvPr>
          <p:cNvSpPr txBox="1"/>
          <p:nvPr/>
        </p:nvSpPr>
        <p:spPr>
          <a:xfrm>
            <a:off x="6223000" y="4902200"/>
            <a:ext cx="203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9FB0BF"/>
                </a:solidFill>
                <a:latin typeface="Aptos" panose="020B0004020202020204" pitchFamily="34" charset="0"/>
              </a:rPr>
              <a:t>6  order + outbox</a:t>
            </a:r>
            <a:endParaRPr lang="ru-RU" sz="9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25B760-BF57-AF7F-844B-894781BD87E8}"/>
              </a:ext>
            </a:extLst>
          </p:cNvPr>
          <p:cNvSpPr txBox="1"/>
          <p:nvPr/>
        </p:nvSpPr>
        <p:spPr>
          <a:xfrm>
            <a:off x="1016000" y="6070600"/>
            <a:ext cx="1016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300" b="1">
                <a:solidFill>
                  <a:srgbClr val="F6F8FA"/>
                </a:solidFill>
                <a:latin typeface="Aptos" panose="020B0004020202020204" pitchFamily="34" charset="0"/>
              </a:rPr>
              <a:t>Цена из браузера не считается доверенной: заказ получает стоимость из Catalog API.</a:t>
            </a:r>
          </a:p>
        </p:txBody>
      </p:sp>
    </p:spTree>
    <p:extLst>
      <p:ext uri="{BB962C8B-B14F-4D97-AF65-F5344CB8AC3E}">
        <p14:creationId xmlns:p14="http://schemas.microsoft.com/office/powerpoint/2010/main" val="359760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76D09-F1C9-1DC3-54D6-62E12D1D9539}"/>
              </a:ext>
            </a:extLst>
          </p:cNvPr>
          <p:cNvSpPr txBox="1"/>
          <p:nvPr/>
        </p:nvSpPr>
        <p:spPr>
          <a:xfrm>
            <a:off x="533400" y="279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7D5D5"/>
                </a:solidFill>
                <a:latin typeface="Aptos" panose="020B0004020202020204" pitchFamily="34" charset="0"/>
              </a:rPr>
              <a:t>ASPOTUS · </a:t>
            </a:r>
            <a:r>
              <a:rPr lang="ru-RU" sz="900" b="1">
                <a:solidFill>
                  <a:srgbClr val="37D5D5"/>
                </a:solidFill>
                <a:latin typeface="Aptos" panose="020B0004020202020204" pitchFamily="34" charset="0"/>
              </a:rPr>
              <a:t>АРХИТЕКТУРА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3545AD-75AF-CB5A-D419-2D1201898390}"/>
              </a:ext>
            </a:extLst>
          </p:cNvPr>
          <p:cNvSpPr txBox="1"/>
          <p:nvPr/>
        </p:nvSpPr>
        <p:spPr>
          <a:xfrm>
            <a:off x="533400" y="609600"/>
            <a:ext cx="1111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>
                <a:solidFill>
                  <a:srgbClr val="F6F8FA"/>
                </a:solidFill>
                <a:latin typeface="Aptos" panose="020B0004020202020204" pitchFamily="34" charset="0"/>
              </a:rPr>
              <a:t>Заказ и резервирование: единая модель состояния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21382A7-0AFD-6342-FA36-39E9EBA684DC}"/>
              </a:ext>
            </a:extLst>
          </p:cNvPr>
          <p:cNvSpPr/>
          <p:nvPr/>
        </p:nvSpPr>
        <p:spPr>
          <a:xfrm>
            <a:off x="533400" y="1282700"/>
            <a:ext cx="889000" cy="50800"/>
          </a:xfrm>
          <a:prstGeom prst="rect">
            <a:avLst/>
          </a:prstGeom>
          <a:solidFill>
            <a:srgbClr val="37D5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4EBE97-1D35-8563-21DC-30E260E7D3D5}"/>
              </a:ext>
            </a:extLst>
          </p:cNvPr>
          <p:cNvSpPr txBox="1"/>
          <p:nvPr/>
        </p:nvSpPr>
        <p:spPr>
          <a:xfrm>
            <a:off x="533400" y="65405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FB0BF"/>
                </a:solidFill>
                <a:latin typeface="Aptos" panose="020B0004020202020204" pitchFamily="34" charset="0"/>
              </a:rPr>
              <a:t>aspotus-project</a:t>
            </a:r>
            <a:endParaRPr lang="ru-RU" sz="8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3D3A9F-CA1F-4307-D52C-95A61FB6F0DD}"/>
              </a:ext>
            </a:extLst>
          </p:cNvPr>
          <p:cNvSpPr txBox="1"/>
          <p:nvPr/>
        </p:nvSpPr>
        <p:spPr>
          <a:xfrm>
            <a:off x="11239500" y="65151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900" b="1">
                <a:solidFill>
                  <a:srgbClr val="9FB0BF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01E46F8-EA87-ABA3-8929-3833AF82371B}"/>
              </a:ext>
            </a:extLst>
          </p:cNvPr>
          <p:cNvSpPr/>
          <p:nvPr/>
        </p:nvSpPr>
        <p:spPr>
          <a:xfrm>
            <a:off x="698500" y="2413000"/>
            <a:ext cx="2159000" cy="1143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5049F1-C7A1-06BE-2763-9C1BFFE0DB53}"/>
              </a:ext>
            </a:extLst>
          </p:cNvPr>
          <p:cNvSpPr txBox="1"/>
          <p:nvPr/>
        </p:nvSpPr>
        <p:spPr>
          <a:xfrm>
            <a:off x="876300" y="25654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4DA3FF"/>
                </a:solidFill>
                <a:latin typeface="Aptos" panose="020B0004020202020204" pitchFamily="34" charset="0"/>
              </a:rPr>
              <a:t>Created</a:t>
            </a:r>
            <a:endParaRPr lang="ru-RU" b="1">
              <a:solidFill>
                <a:srgbClr val="4DA3FF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37CD3-4329-B88F-6F05-EC3F973F74AA}"/>
              </a:ext>
            </a:extLst>
          </p:cNvPr>
          <p:cNvSpPr txBox="1"/>
          <p:nvPr/>
        </p:nvSpPr>
        <p:spPr>
          <a:xfrm>
            <a:off x="876300" y="2959100"/>
            <a:ext cx="1803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>
                <a:solidFill>
                  <a:srgbClr val="9FB0BF"/>
                </a:solidFill>
                <a:latin typeface="Aptos" panose="020B0004020202020204" pitchFamily="34" charset="0"/>
              </a:rPr>
              <a:t>Резерв создан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E4945355-1A80-24F9-C283-956658082740}"/>
              </a:ext>
            </a:extLst>
          </p:cNvPr>
          <p:cNvSpPr/>
          <p:nvPr/>
        </p:nvSpPr>
        <p:spPr>
          <a:xfrm>
            <a:off x="3873500" y="2413000"/>
            <a:ext cx="2159000" cy="1143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C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37BAA-418D-DC13-D5E0-2B6FB8431458}"/>
              </a:ext>
            </a:extLst>
          </p:cNvPr>
          <p:cNvSpPr txBox="1"/>
          <p:nvPr/>
        </p:nvSpPr>
        <p:spPr>
          <a:xfrm>
            <a:off x="4051300" y="25654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C857"/>
                </a:solidFill>
                <a:latin typeface="Aptos" panose="020B0004020202020204" pitchFamily="34" charset="0"/>
              </a:rPr>
              <a:t>Processing</a:t>
            </a:r>
            <a:endParaRPr lang="ru-RU" b="1">
              <a:solidFill>
                <a:srgbClr val="FFC857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E91324-250B-3F36-70D9-F9654F8EE55C}"/>
              </a:ext>
            </a:extLst>
          </p:cNvPr>
          <p:cNvSpPr txBox="1"/>
          <p:nvPr/>
        </p:nvSpPr>
        <p:spPr>
          <a:xfrm>
            <a:off x="4051300" y="2959100"/>
            <a:ext cx="1803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>
                <a:solidFill>
                  <a:srgbClr val="9FB0BF"/>
                </a:solidFill>
                <a:latin typeface="Aptos" panose="020B0004020202020204" pitchFamily="34" charset="0"/>
              </a:rPr>
              <a:t>Оператор работает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D1585BE-6133-D501-9A25-CD254384A37D}"/>
              </a:ext>
            </a:extLst>
          </p:cNvPr>
          <p:cNvSpPr/>
          <p:nvPr/>
        </p:nvSpPr>
        <p:spPr>
          <a:xfrm>
            <a:off x="7048500" y="1524000"/>
            <a:ext cx="2286000" cy="1143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55D6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568350-C186-9130-194E-281888C342E9}"/>
              </a:ext>
            </a:extLst>
          </p:cNvPr>
          <p:cNvSpPr txBox="1"/>
          <p:nvPr/>
        </p:nvSpPr>
        <p:spPr>
          <a:xfrm>
            <a:off x="7226300" y="16764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55D68B"/>
                </a:solidFill>
                <a:latin typeface="Aptos" panose="020B0004020202020204" pitchFamily="34" charset="0"/>
              </a:rPr>
              <a:t>Completed</a:t>
            </a:r>
            <a:endParaRPr lang="ru-RU" b="1">
              <a:solidFill>
                <a:srgbClr val="55D68B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913F9A-86A4-BED4-A27E-30B963EE9BBA}"/>
              </a:ext>
            </a:extLst>
          </p:cNvPr>
          <p:cNvSpPr txBox="1"/>
          <p:nvPr/>
        </p:nvSpPr>
        <p:spPr>
          <a:xfrm>
            <a:off x="7226300" y="2070100"/>
            <a:ext cx="1930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>
                <a:solidFill>
                  <a:srgbClr val="9FB0BF"/>
                </a:solidFill>
                <a:latin typeface="Aptos" panose="020B0004020202020204" pitchFamily="34" charset="0"/>
              </a:rPr>
              <a:t>Продажа завершена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A50CE564-ADB3-B665-21D5-1421F23356BF}"/>
              </a:ext>
            </a:extLst>
          </p:cNvPr>
          <p:cNvSpPr/>
          <p:nvPr/>
        </p:nvSpPr>
        <p:spPr>
          <a:xfrm>
            <a:off x="7048500" y="3810000"/>
            <a:ext cx="2286000" cy="1143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6B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E08CF6-4E20-80B8-F3B0-E73EACF4FC98}"/>
              </a:ext>
            </a:extLst>
          </p:cNvPr>
          <p:cNvSpPr txBox="1"/>
          <p:nvPr/>
        </p:nvSpPr>
        <p:spPr>
          <a:xfrm>
            <a:off x="7226300" y="39624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6B6B"/>
                </a:solidFill>
                <a:latin typeface="Aptos" panose="020B0004020202020204" pitchFamily="34" charset="0"/>
              </a:rPr>
              <a:t>Cancelled</a:t>
            </a:r>
            <a:endParaRPr lang="ru-RU" b="1">
              <a:solidFill>
                <a:srgbClr val="FF6B6B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A970E5-1DD9-D6D9-3649-F7D696106344}"/>
              </a:ext>
            </a:extLst>
          </p:cNvPr>
          <p:cNvSpPr txBox="1"/>
          <p:nvPr/>
        </p:nvSpPr>
        <p:spPr>
          <a:xfrm>
            <a:off x="7226300" y="4356100"/>
            <a:ext cx="1930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>
                <a:solidFill>
                  <a:srgbClr val="9FB0BF"/>
                </a:solidFill>
                <a:latin typeface="Aptos" panose="020B0004020202020204" pitchFamily="34" charset="0"/>
              </a:rPr>
              <a:t>Резерв освобождён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CF9CA5B5-553D-E934-69CC-3BA1766EDC97}"/>
              </a:ext>
            </a:extLst>
          </p:cNvPr>
          <p:cNvCxnSpPr/>
          <p:nvPr/>
        </p:nvCxnSpPr>
        <p:spPr>
          <a:xfrm>
            <a:off x="2857500" y="2984500"/>
            <a:ext cx="1016000" cy="0"/>
          </a:xfrm>
          <a:prstGeom prst="straightConnector1">
            <a:avLst/>
          </a:prstGeom>
          <a:ln w="38100">
            <a:solidFill>
              <a:srgbClr val="4DA3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5C155BE2-A851-0A0A-4725-BE0822A0A8AE}"/>
              </a:ext>
            </a:extLst>
          </p:cNvPr>
          <p:cNvCxnSpPr/>
          <p:nvPr/>
        </p:nvCxnSpPr>
        <p:spPr>
          <a:xfrm flipV="1">
            <a:off x="6032500" y="2095500"/>
            <a:ext cx="1016000" cy="698500"/>
          </a:xfrm>
          <a:prstGeom prst="straightConnector1">
            <a:avLst/>
          </a:prstGeom>
          <a:ln w="38100">
            <a:solidFill>
              <a:srgbClr val="55D6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B1E4539B-DC8F-60D3-D08A-95C5601B568E}"/>
              </a:ext>
            </a:extLst>
          </p:cNvPr>
          <p:cNvCxnSpPr/>
          <p:nvPr/>
        </p:nvCxnSpPr>
        <p:spPr>
          <a:xfrm>
            <a:off x="6032500" y="3238500"/>
            <a:ext cx="1016000" cy="1143000"/>
          </a:xfrm>
          <a:prstGeom prst="straightConnector1">
            <a:avLst/>
          </a:prstGeom>
          <a:ln w="38100">
            <a:solidFill>
              <a:srgbClr val="FF6B6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B0A55D25-8943-A05A-D3A4-132BDF4BA34E}"/>
              </a:ext>
            </a:extLst>
          </p:cNvPr>
          <p:cNvCxnSpPr/>
          <p:nvPr/>
        </p:nvCxnSpPr>
        <p:spPr>
          <a:xfrm>
            <a:off x="2857500" y="3238500"/>
            <a:ext cx="4191000" cy="1143000"/>
          </a:xfrm>
          <a:prstGeom prst="straightConnector1">
            <a:avLst/>
          </a:prstGeom>
          <a:ln w="25400">
            <a:solidFill>
              <a:srgbClr val="FF6B6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440D921-7E64-66F6-325E-3142C00F46AC}"/>
              </a:ext>
            </a:extLst>
          </p:cNvPr>
          <p:cNvSpPr/>
          <p:nvPr/>
        </p:nvSpPr>
        <p:spPr>
          <a:xfrm>
            <a:off x="9779000" y="1524000"/>
            <a:ext cx="1968500" cy="1651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37D5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965788-6497-E0C3-905D-120EADA7A666}"/>
              </a:ext>
            </a:extLst>
          </p:cNvPr>
          <p:cNvSpPr txBox="1"/>
          <p:nvPr/>
        </p:nvSpPr>
        <p:spPr>
          <a:xfrm>
            <a:off x="9956800" y="1676400"/>
            <a:ext cx="161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b="1">
                <a:solidFill>
                  <a:srgbClr val="37D5D5"/>
                </a:solidFill>
                <a:latin typeface="Aptos" panose="020B0004020202020204" pitchFamily="34" charset="0"/>
              </a:rPr>
              <a:t>АВТОМОБИЛЬ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742DED-FFB5-EDB1-0075-62CBD35518C9}"/>
              </a:ext>
            </a:extLst>
          </p:cNvPr>
          <p:cNvSpPr txBox="1"/>
          <p:nvPr/>
        </p:nvSpPr>
        <p:spPr>
          <a:xfrm>
            <a:off x="9956800" y="2070100"/>
            <a:ext cx="16129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>
                <a:solidFill>
                  <a:srgbClr val="9FB0BF"/>
                </a:solidFill>
                <a:latin typeface="Aptos" panose="020B0004020202020204" pitchFamily="34" charset="0"/>
              </a:rPr>
              <a:t>Один активный резерв.
После Completed скрыт от покупателя, но доступен модератору.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B868EB21-A8DA-A960-F1BF-8A3FA85C636E}"/>
              </a:ext>
            </a:extLst>
          </p:cNvPr>
          <p:cNvSpPr/>
          <p:nvPr/>
        </p:nvSpPr>
        <p:spPr>
          <a:xfrm>
            <a:off x="9779000" y="3810000"/>
            <a:ext cx="1968500" cy="1206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A78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CC371C-4AF1-47E0-B559-A96E56061BF2}"/>
              </a:ext>
            </a:extLst>
          </p:cNvPr>
          <p:cNvSpPr txBox="1"/>
          <p:nvPr/>
        </p:nvSpPr>
        <p:spPr>
          <a:xfrm>
            <a:off x="9956800" y="3962400"/>
            <a:ext cx="161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b="1">
                <a:solidFill>
                  <a:srgbClr val="A78BFA"/>
                </a:solidFill>
                <a:latin typeface="Aptos" panose="020B0004020202020204" pitchFamily="34" charset="0"/>
              </a:rPr>
              <a:t>ЗАПЧАСТИ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E777A1-D4B8-B122-AD52-EFE46920CF18}"/>
              </a:ext>
            </a:extLst>
          </p:cNvPr>
          <p:cNvSpPr txBox="1"/>
          <p:nvPr/>
        </p:nvSpPr>
        <p:spPr>
          <a:xfrm>
            <a:off x="9956800" y="4356100"/>
            <a:ext cx="1612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>
                <a:solidFill>
                  <a:srgbClr val="9FB0BF"/>
                </a:solidFill>
                <a:latin typeface="Aptos" panose="020B0004020202020204" pitchFamily="34" charset="0"/>
              </a:rPr>
              <a:t>Свободный остаток =
склад − резервы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09FBBC-2B0E-5BA0-0169-E74F68A07A2C}"/>
              </a:ext>
            </a:extLst>
          </p:cNvPr>
          <p:cNvSpPr txBox="1"/>
          <p:nvPr/>
        </p:nvSpPr>
        <p:spPr>
          <a:xfrm>
            <a:off x="3111500" y="5715000"/>
            <a:ext cx="596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9FB0BF"/>
                </a:solidFill>
                <a:latin typeface="Aptos" panose="020B0004020202020204" pitchFamily="34" charset="0"/>
              </a:rPr>
              <a:t>Reserve / Release / Complete </a:t>
            </a:r>
            <a:r>
              <a:rPr lang="ru-RU" sz="1400" b="1">
                <a:solidFill>
                  <a:srgbClr val="9FB0BF"/>
                </a:solidFill>
                <a:latin typeface="Aptos" panose="020B0004020202020204" pitchFamily="34" charset="0"/>
              </a:rPr>
              <a:t>идемпотентны по </a:t>
            </a:r>
            <a:r>
              <a:rPr lang="en-US" sz="1400" b="1">
                <a:solidFill>
                  <a:srgbClr val="9FB0BF"/>
                </a:solidFill>
                <a:latin typeface="Aptos" panose="020B0004020202020204" pitchFamily="34" charset="0"/>
              </a:rPr>
              <a:t>orderId</a:t>
            </a:r>
            <a:endParaRPr lang="ru-RU" sz="1400" b="1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40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524DF0-73DC-A230-BEEE-A0FA4630A17A}"/>
              </a:ext>
            </a:extLst>
          </p:cNvPr>
          <p:cNvSpPr txBox="1"/>
          <p:nvPr/>
        </p:nvSpPr>
        <p:spPr>
          <a:xfrm>
            <a:off x="533400" y="279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7D5D5"/>
                </a:solidFill>
                <a:latin typeface="Aptos" panose="020B0004020202020204" pitchFamily="34" charset="0"/>
              </a:rPr>
              <a:t>ASPOTUS · </a:t>
            </a:r>
            <a:r>
              <a:rPr lang="ru-RU" sz="900" b="1">
                <a:solidFill>
                  <a:srgbClr val="37D5D5"/>
                </a:solidFill>
                <a:latin typeface="Aptos" panose="020B0004020202020204" pitchFamily="34" charset="0"/>
              </a:rPr>
              <a:t>АРХИТЕКТУРА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E0D771-9769-006D-0032-5F81B4B0A416}"/>
              </a:ext>
            </a:extLst>
          </p:cNvPr>
          <p:cNvSpPr txBox="1"/>
          <p:nvPr/>
        </p:nvSpPr>
        <p:spPr>
          <a:xfrm>
            <a:off x="533400" y="609600"/>
            <a:ext cx="1111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>
                <a:solidFill>
                  <a:srgbClr val="F6F8FA"/>
                </a:solidFill>
                <a:latin typeface="Aptos" panose="020B0004020202020204" pitchFamily="34" charset="0"/>
              </a:rPr>
              <a:t>Асинхронные уведомления: </a:t>
            </a:r>
            <a:r>
              <a:rPr lang="en-US" sz="2800" b="1">
                <a:solidFill>
                  <a:srgbClr val="F6F8FA"/>
                </a:solidFill>
                <a:latin typeface="Aptos" panose="020B0004020202020204" pitchFamily="34" charset="0"/>
              </a:rPr>
              <a:t>Outbox + Inbox</a:t>
            </a:r>
            <a:endParaRPr lang="ru-RU" sz="2800" b="1">
              <a:solidFill>
                <a:srgbClr val="F6F8FA"/>
              </a:solidFill>
              <a:latin typeface="Aptos" panose="020B00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8354FA6-C7BD-2685-87E0-A507E20802E7}"/>
              </a:ext>
            </a:extLst>
          </p:cNvPr>
          <p:cNvSpPr/>
          <p:nvPr/>
        </p:nvSpPr>
        <p:spPr>
          <a:xfrm>
            <a:off x="533400" y="1282700"/>
            <a:ext cx="889000" cy="50800"/>
          </a:xfrm>
          <a:prstGeom prst="rect">
            <a:avLst/>
          </a:prstGeom>
          <a:solidFill>
            <a:srgbClr val="37D5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7E57C-D5A0-AF07-00AC-048C96039734}"/>
              </a:ext>
            </a:extLst>
          </p:cNvPr>
          <p:cNvSpPr txBox="1"/>
          <p:nvPr/>
        </p:nvSpPr>
        <p:spPr>
          <a:xfrm>
            <a:off x="533400" y="65405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FB0BF"/>
                </a:solidFill>
                <a:latin typeface="Aptos" panose="020B0004020202020204" pitchFamily="34" charset="0"/>
              </a:rPr>
              <a:t>aspotus-project</a:t>
            </a:r>
            <a:endParaRPr lang="ru-RU" sz="8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B0E6E-F037-E290-1714-1C13FDFEF4AF}"/>
              </a:ext>
            </a:extLst>
          </p:cNvPr>
          <p:cNvSpPr txBox="1"/>
          <p:nvPr/>
        </p:nvSpPr>
        <p:spPr>
          <a:xfrm>
            <a:off x="11239500" y="65151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900" b="1">
                <a:solidFill>
                  <a:srgbClr val="9FB0BF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85B74F9-FC6A-57D1-26CA-4484E93FBFD3}"/>
              </a:ext>
            </a:extLst>
          </p:cNvPr>
          <p:cNvSpPr/>
          <p:nvPr/>
        </p:nvSpPr>
        <p:spPr>
          <a:xfrm>
            <a:off x="571500" y="2349500"/>
            <a:ext cx="1905000" cy="1206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C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0689F4-6A79-A0F2-1BFE-C27FD4AE5671}"/>
              </a:ext>
            </a:extLst>
          </p:cNvPr>
          <p:cNvSpPr txBox="1"/>
          <p:nvPr/>
        </p:nvSpPr>
        <p:spPr>
          <a:xfrm>
            <a:off x="749300" y="2501900"/>
            <a:ext cx="1549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FFC857"/>
                </a:solidFill>
                <a:latin typeface="Aptos" panose="020B0004020202020204" pitchFamily="34" charset="0"/>
              </a:rPr>
              <a:t>Orders API</a:t>
            </a:r>
            <a:endParaRPr lang="ru-RU" sz="1500" b="1">
              <a:solidFill>
                <a:srgbClr val="FFC857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7C762B-BC39-A218-2EA4-EBB4AA720962}"/>
              </a:ext>
            </a:extLst>
          </p:cNvPr>
          <p:cNvSpPr txBox="1"/>
          <p:nvPr/>
        </p:nvSpPr>
        <p:spPr>
          <a:xfrm>
            <a:off x="749300" y="2895600"/>
            <a:ext cx="1549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Создаёт заказ и событие OrderCreated.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5F141B8-5CE2-328B-6CB7-EF286350053E}"/>
              </a:ext>
            </a:extLst>
          </p:cNvPr>
          <p:cNvSpPr/>
          <p:nvPr/>
        </p:nvSpPr>
        <p:spPr>
          <a:xfrm>
            <a:off x="3111500" y="2159000"/>
            <a:ext cx="2413000" cy="1587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A78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39F749-B85D-3BF1-8855-01285976807C}"/>
              </a:ext>
            </a:extLst>
          </p:cNvPr>
          <p:cNvSpPr txBox="1"/>
          <p:nvPr/>
        </p:nvSpPr>
        <p:spPr>
          <a:xfrm>
            <a:off x="3289300" y="23114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A78BFA"/>
                </a:solidFill>
                <a:latin typeface="Aptos" panose="020B0004020202020204" pitchFamily="34" charset="0"/>
              </a:rPr>
              <a:t>Orders DB</a:t>
            </a:r>
            <a:endParaRPr lang="ru-RU" sz="1500" b="1">
              <a:solidFill>
                <a:srgbClr val="A78BF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2B30DF-CDA5-D0F4-0346-CE485158F00A}"/>
              </a:ext>
            </a:extLst>
          </p:cNvPr>
          <p:cNvSpPr txBox="1"/>
          <p:nvPr/>
        </p:nvSpPr>
        <p:spPr>
          <a:xfrm>
            <a:off x="3289300" y="27051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Заказ и событие сохраняются вместе: либо обе записи, либо ни одной.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4E3F564-5AC8-C3EF-6B26-E8DB7D6AE66E}"/>
              </a:ext>
            </a:extLst>
          </p:cNvPr>
          <p:cNvSpPr/>
          <p:nvPr/>
        </p:nvSpPr>
        <p:spPr>
          <a:xfrm>
            <a:off x="6159500" y="2159000"/>
            <a:ext cx="2413000" cy="1587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37D5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64857D-DE3A-D69A-E603-BEEC7037FD92}"/>
              </a:ext>
            </a:extLst>
          </p:cNvPr>
          <p:cNvSpPr txBox="1"/>
          <p:nvPr/>
        </p:nvSpPr>
        <p:spPr>
          <a:xfrm>
            <a:off x="6337300" y="2311400"/>
            <a:ext cx="205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37D5D5"/>
                </a:solidFill>
                <a:latin typeface="Aptos" panose="020B0004020202020204" pitchFamily="34" charset="0"/>
              </a:rPr>
              <a:t>Outbox Publisher</a:t>
            </a:r>
            <a:endParaRPr lang="ru-RU" sz="1500" b="1">
              <a:solidFill>
                <a:srgbClr val="37D5D5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0986BD-9B0A-33D4-0AF6-F887ADBDDA6B}"/>
              </a:ext>
            </a:extLst>
          </p:cNvPr>
          <p:cNvSpPr txBox="1"/>
          <p:nvPr/>
        </p:nvSpPr>
        <p:spPr>
          <a:xfrm>
            <a:off x="6337300" y="27051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Находит неопубликованные события, повторяет отправку и отмечает успех.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79F5A62E-DB84-5347-7D52-D5C8E49C8BE6}"/>
              </a:ext>
            </a:extLst>
          </p:cNvPr>
          <p:cNvSpPr/>
          <p:nvPr/>
        </p:nvSpPr>
        <p:spPr>
          <a:xfrm>
            <a:off x="9207500" y="2159000"/>
            <a:ext cx="2286000" cy="1587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C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5BC8B7-551C-B145-366E-7EA499B59DB0}"/>
              </a:ext>
            </a:extLst>
          </p:cNvPr>
          <p:cNvSpPr txBox="1"/>
          <p:nvPr/>
        </p:nvSpPr>
        <p:spPr>
          <a:xfrm>
            <a:off x="9385300" y="2311400"/>
            <a:ext cx="1930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FFC857"/>
                </a:solidFill>
                <a:latin typeface="Aptos" panose="020B0004020202020204" pitchFamily="34" charset="0"/>
              </a:rPr>
              <a:t>RabbitMQ</a:t>
            </a:r>
            <a:endParaRPr lang="ru-RU" sz="1500" b="1">
              <a:solidFill>
                <a:srgbClr val="FFC857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29301D-563A-30EF-2CAE-E29F5E1E2AAE}"/>
              </a:ext>
            </a:extLst>
          </p:cNvPr>
          <p:cNvSpPr txBox="1"/>
          <p:nvPr/>
        </p:nvSpPr>
        <p:spPr>
          <a:xfrm>
            <a:off x="9385300" y="2705100"/>
            <a:ext cx="1930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Надёжно держит событие, пока получатель не сможет его обработать.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FB13F6C6-D689-84C2-F0EA-00A647F61710}"/>
              </a:ext>
            </a:extLst>
          </p:cNvPr>
          <p:cNvCxnSpPr/>
          <p:nvPr/>
        </p:nvCxnSpPr>
        <p:spPr>
          <a:xfrm>
            <a:off x="2476500" y="2946400"/>
            <a:ext cx="635000" cy="0"/>
          </a:xfrm>
          <a:prstGeom prst="straightConnector1">
            <a:avLst/>
          </a:prstGeom>
          <a:ln w="25400">
            <a:solidFill>
              <a:srgbClr val="FFC85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D05C666-B8D1-0EAE-E580-98FF3F825937}"/>
              </a:ext>
            </a:extLst>
          </p:cNvPr>
          <p:cNvCxnSpPr/>
          <p:nvPr/>
        </p:nvCxnSpPr>
        <p:spPr>
          <a:xfrm>
            <a:off x="5524500" y="2946400"/>
            <a:ext cx="635000" cy="0"/>
          </a:xfrm>
          <a:prstGeom prst="straightConnector1">
            <a:avLst/>
          </a:prstGeom>
          <a:ln w="25400">
            <a:solidFill>
              <a:srgbClr val="A78BF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82F43F3E-F52C-B631-E8F6-4F3FCCC5443C}"/>
              </a:ext>
            </a:extLst>
          </p:cNvPr>
          <p:cNvCxnSpPr/>
          <p:nvPr/>
        </p:nvCxnSpPr>
        <p:spPr>
          <a:xfrm>
            <a:off x="8572500" y="2946400"/>
            <a:ext cx="635000" cy="0"/>
          </a:xfrm>
          <a:prstGeom prst="straightConnector1">
            <a:avLst/>
          </a:prstGeom>
          <a:ln w="25400">
            <a:solidFill>
              <a:srgbClr val="37D5D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DB688D74-C476-3A79-8C3D-9007B9D23F61}"/>
              </a:ext>
            </a:extLst>
          </p:cNvPr>
          <p:cNvSpPr/>
          <p:nvPr/>
        </p:nvSpPr>
        <p:spPr>
          <a:xfrm>
            <a:off x="6921500" y="4381500"/>
            <a:ext cx="2794000" cy="1333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55D6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39ECD4-0758-F82B-D858-D9D8D1A1EDB0}"/>
              </a:ext>
            </a:extLst>
          </p:cNvPr>
          <p:cNvSpPr txBox="1"/>
          <p:nvPr/>
        </p:nvSpPr>
        <p:spPr>
          <a:xfrm>
            <a:off x="7099300" y="4533900"/>
            <a:ext cx="2438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5D68B"/>
                </a:solidFill>
                <a:latin typeface="Aptos" panose="020B0004020202020204" pitchFamily="34" charset="0"/>
              </a:rPr>
              <a:t>Notifications Worker</a:t>
            </a:r>
            <a:endParaRPr lang="ru-RU" sz="1500" b="1">
              <a:solidFill>
                <a:srgbClr val="55D68B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321571-F1EF-6109-4CDA-12453630A45E}"/>
              </a:ext>
            </a:extLst>
          </p:cNvPr>
          <p:cNvSpPr txBox="1"/>
          <p:nvPr/>
        </p:nvSpPr>
        <p:spPr>
          <a:xfrm>
            <a:off x="7099300" y="49276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9FB0BF"/>
                </a:solidFill>
                <a:latin typeface="Aptos" panose="020B0004020202020204" pitchFamily="34" charset="0"/>
              </a:rPr>
              <a:t>Читает очередь и создаёт уведомление в фоне, независимо от HTTP-запроса.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3F6AFF4-52F1-589B-6167-E9ED1C3870F8}"/>
              </a:ext>
            </a:extLst>
          </p:cNvPr>
          <p:cNvSpPr/>
          <p:nvPr/>
        </p:nvSpPr>
        <p:spPr>
          <a:xfrm>
            <a:off x="10096500" y="4381500"/>
            <a:ext cx="1651000" cy="1333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A78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FBE85E-583A-F19C-DA9E-B115071ABFF5}"/>
              </a:ext>
            </a:extLst>
          </p:cNvPr>
          <p:cNvSpPr txBox="1"/>
          <p:nvPr/>
        </p:nvSpPr>
        <p:spPr>
          <a:xfrm>
            <a:off x="10274300" y="4533900"/>
            <a:ext cx="1295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A78BFA"/>
                </a:solidFill>
                <a:latin typeface="Aptos" panose="020B0004020202020204" pitchFamily="34" charset="0"/>
              </a:rPr>
              <a:t>Inbox DB</a:t>
            </a:r>
            <a:endParaRPr lang="ru-RU" sz="1400" b="1">
              <a:solidFill>
                <a:srgbClr val="A78BFA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AB07A7-045F-9EA9-BB1B-4AC02A8EC59F}"/>
              </a:ext>
            </a:extLst>
          </p:cNvPr>
          <p:cNvSpPr txBox="1"/>
          <p:nvPr/>
        </p:nvSpPr>
        <p:spPr>
          <a:xfrm>
            <a:off x="10274300" y="4927600"/>
            <a:ext cx="129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00">
                <a:solidFill>
                  <a:srgbClr val="9FB0BF"/>
                </a:solidFill>
                <a:latin typeface="Aptos" panose="020B0004020202020204" pitchFamily="34" charset="0"/>
              </a:rPr>
              <a:t>Помнит eventId: повторно доставленное событие игнорируется.</a:t>
            </a:r>
          </a:p>
        </p:txBody>
      </p: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4F7256FE-0806-06B6-8166-A7CF90BD66CD}"/>
              </a:ext>
            </a:extLst>
          </p:cNvPr>
          <p:cNvCxnSpPr/>
          <p:nvPr/>
        </p:nvCxnSpPr>
        <p:spPr>
          <a:xfrm flipH="1">
            <a:off x="8636000" y="3683000"/>
            <a:ext cx="1714500" cy="762000"/>
          </a:xfrm>
          <a:prstGeom prst="straightConnector1">
            <a:avLst/>
          </a:prstGeom>
          <a:ln w="25400">
            <a:solidFill>
              <a:srgbClr val="FFC85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5600CC24-408D-5AB1-886D-7E02A7116D25}"/>
              </a:ext>
            </a:extLst>
          </p:cNvPr>
          <p:cNvCxnSpPr/>
          <p:nvPr/>
        </p:nvCxnSpPr>
        <p:spPr>
          <a:xfrm>
            <a:off x="9715500" y="5041900"/>
            <a:ext cx="381000" cy="0"/>
          </a:xfrm>
          <a:prstGeom prst="straightConnector1">
            <a:avLst/>
          </a:prstGeom>
          <a:ln w="25400">
            <a:solidFill>
              <a:srgbClr val="55D6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543DF2C-BC39-7FA0-0C05-A91E895D9618}"/>
              </a:ext>
            </a:extLst>
          </p:cNvPr>
          <p:cNvSpPr txBox="1"/>
          <p:nvPr/>
        </p:nvSpPr>
        <p:spPr>
          <a:xfrm>
            <a:off x="1143000" y="6032500"/>
            <a:ext cx="990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400" b="1">
                <a:solidFill>
                  <a:srgbClr val="F6F8FA"/>
                </a:solidFill>
                <a:latin typeface="Aptos" panose="020B0004020202020204" pitchFamily="34" charset="0"/>
              </a:rPr>
              <a:t>Результат: at-least-once доставка без повторной бизнес-обработки.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3731699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AFEB84-8789-22DE-B54D-1137D669CCE3}"/>
              </a:ext>
            </a:extLst>
          </p:cNvPr>
          <p:cNvSpPr txBox="1"/>
          <p:nvPr/>
        </p:nvSpPr>
        <p:spPr>
          <a:xfrm>
            <a:off x="533400" y="279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7D5D5"/>
                </a:solidFill>
                <a:latin typeface="Aptos" panose="020B0004020202020204" pitchFamily="34" charset="0"/>
              </a:rPr>
              <a:t>ASPOTUS · </a:t>
            </a:r>
            <a:r>
              <a:rPr lang="ru-RU" sz="900" b="1">
                <a:solidFill>
                  <a:srgbClr val="37D5D5"/>
                </a:solidFill>
                <a:latin typeface="Aptos" panose="020B0004020202020204" pitchFamily="34" charset="0"/>
              </a:rPr>
              <a:t>АРХИТЕКТУРА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8EC697-7EC7-3158-4145-3AED64AA69DA}"/>
              </a:ext>
            </a:extLst>
          </p:cNvPr>
          <p:cNvSpPr txBox="1"/>
          <p:nvPr/>
        </p:nvSpPr>
        <p:spPr>
          <a:xfrm>
            <a:off x="533400" y="609600"/>
            <a:ext cx="1111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>
                <a:solidFill>
                  <a:srgbClr val="F6F8FA"/>
                </a:solidFill>
                <a:latin typeface="Aptos" panose="020B0004020202020204" pitchFamily="34" charset="0"/>
              </a:rPr>
              <a:t>Данные разделены по владельцам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4D00D9B-DFC4-B026-3069-CFEFF8161F2F}"/>
              </a:ext>
            </a:extLst>
          </p:cNvPr>
          <p:cNvSpPr/>
          <p:nvPr/>
        </p:nvSpPr>
        <p:spPr>
          <a:xfrm>
            <a:off x="533400" y="1282700"/>
            <a:ext cx="889000" cy="50800"/>
          </a:xfrm>
          <a:prstGeom prst="rect">
            <a:avLst/>
          </a:prstGeom>
          <a:solidFill>
            <a:srgbClr val="37D5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7C0C21-B51B-7DD4-98BE-207D6F227D13}"/>
              </a:ext>
            </a:extLst>
          </p:cNvPr>
          <p:cNvSpPr txBox="1"/>
          <p:nvPr/>
        </p:nvSpPr>
        <p:spPr>
          <a:xfrm>
            <a:off x="533400" y="65405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FB0BF"/>
                </a:solidFill>
                <a:latin typeface="Aptos" panose="020B0004020202020204" pitchFamily="34" charset="0"/>
              </a:rPr>
              <a:t>aspotus-project</a:t>
            </a:r>
            <a:endParaRPr lang="ru-RU" sz="8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FD2EFF-30E5-51CE-E9DD-127694225B59}"/>
              </a:ext>
            </a:extLst>
          </p:cNvPr>
          <p:cNvSpPr txBox="1"/>
          <p:nvPr/>
        </p:nvSpPr>
        <p:spPr>
          <a:xfrm>
            <a:off x="11239500" y="65151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900" b="1">
                <a:solidFill>
                  <a:srgbClr val="9FB0BF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64CD2FC-5C03-4568-C752-7FA396DE586C}"/>
              </a:ext>
            </a:extLst>
          </p:cNvPr>
          <p:cNvSpPr/>
          <p:nvPr/>
        </p:nvSpPr>
        <p:spPr>
          <a:xfrm>
            <a:off x="533400" y="1968500"/>
            <a:ext cx="2476500" cy="1841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37D5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B97DFA-D456-BEB3-391B-06A9BF165582}"/>
              </a:ext>
            </a:extLst>
          </p:cNvPr>
          <p:cNvSpPr txBox="1"/>
          <p:nvPr/>
        </p:nvSpPr>
        <p:spPr>
          <a:xfrm>
            <a:off x="711200" y="2120900"/>
            <a:ext cx="2120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37D5D5"/>
                </a:solidFill>
                <a:latin typeface="Aptos" panose="020B0004020202020204" pitchFamily="34" charset="0"/>
              </a:rPr>
              <a:t>gateway.db</a:t>
            </a:r>
            <a:endParaRPr lang="ru-RU" sz="1600" b="1">
              <a:solidFill>
                <a:srgbClr val="37D5D5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E1325D-03D3-46ED-3558-D6562BDAD34F}"/>
              </a:ext>
            </a:extLst>
          </p:cNvPr>
          <p:cNvSpPr txBox="1"/>
          <p:nvPr/>
        </p:nvSpPr>
        <p:spPr>
          <a:xfrm>
            <a:off x="711200" y="2514600"/>
            <a:ext cx="2120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Кто пользователь и что ему разрешено: Identity, Users, Roles.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B268812-13B2-AF5D-3607-FBC75CC961A7}"/>
              </a:ext>
            </a:extLst>
          </p:cNvPr>
          <p:cNvSpPr/>
          <p:nvPr/>
        </p:nvSpPr>
        <p:spPr>
          <a:xfrm>
            <a:off x="3390900" y="1968500"/>
            <a:ext cx="2476500" cy="1841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55D6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29AAB4-C846-2F1F-272D-C1110A2E472B}"/>
              </a:ext>
            </a:extLst>
          </p:cNvPr>
          <p:cNvSpPr txBox="1"/>
          <p:nvPr/>
        </p:nvSpPr>
        <p:spPr>
          <a:xfrm>
            <a:off x="3568700" y="2120900"/>
            <a:ext cx="2120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55D68B"/>
                </a:solidFill>
                <a:latin typeface="Aptos" panose="020B0004020202020204" pitchFamily="34" charset="0"/>
              </a:rPr>
              <a:t>catalog.db</a:t>
            </a:r>
            <a:endParaRPr lang="ru-RU" sz="1600" b="1">
              <a:solidFill>
                <a:srgbClr val="55D68B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4DABD2-A9DC-C900-2E88-7505A63B6CC9}"/>
              </a:ext>
            </a:extLst>
          </p:cNvPr>
          <p:cNvSpPr txBox="1"/>
          <p:nvPr/>
        </p:nvSpPr>
        <p:spPr>
          <a:xfrm>
            <a:off x="3568700" y="2514600"/>
            <a:ext cx="2120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Что продаём, сколько доступно и что зарезервировано.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DBBF857-AE38-2CC5-5256-3B4B4FD14BAF}"/>
              </a:ext>
            </a:extLst>
          </p:cNvPr>
          <p:cNvSpPr/>
          <p:nvPr/>
        </p:nvSpPr>
        <p:spPr>
          <a:xfrm>
            <a:off x="6248400" y="1968500"/>
            <a:ext cx="2476500" cy="1841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C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DB200E-1E87-D1FD-D2A3-D03F2A9B7C47}"/>
              </a:ext>
            </a:extLst>
          </p:cNvPr>
          <p:cNvSpPr txBox="1"/>
          <p:nvPr/>
        </p:nvSpPr>
        <p:spPr>
          <a:xfrm>
            <a:off x="6426200" y="2120900"/>
            <a:ext cx="2120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C857"/>
                </a:solidFill>
                <a:latin typeface="Aptos" panose="020B0004020202020204" pitchFamily="34" charset="0"/>
              </a:rPr>
              <a:t>orders.db</a:t>
            </a:r>
            <a:endParaRPr lang="ru-RU" sz="1600" b="1">
              <a:solidFill>
                <a:srgbClr val="FFC857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4862C4-55F0-43F2-4889-200F19760D51}"/>
              </a:ext>
            </a:extLst>
          </p:cNvPr>
          <p:cNvSpPr txBox="1"/>
          <p:nvPr/>
        </p:nvSpPr>
        <p:spPr>
          <a:xfrm>
            <a:off x="6426200" y="2514600"/>
            <a:ext cx="2120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Что заказал клиент, по какой цене и в каком статусе.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BB93B060-758C-EE4F-6907-A331FD6AF2FD}"/>
              </a:ext>
            </a:extLst>
          </p:cNvPr>
          <p:cNvSpPr/>
          <p:nvPr/>
        </p:nvSpPr>
        <p:spPr>
          <a:xfrm>
            <a:off x="9105900" y="1968500"/>
            <a:ext cx="2476500" cy="1841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A78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936F06-BEFB-0EA5-547D-8C999211B3E1}"/>
              </a:ext>
            </a:extLst>
          </p:cNvPr>
          <p:cNvSpPr txBox="1"/>
          <p:nvPr/>
        </p:nvSpPr>
        <p:spPr>
          <a:xfrm>
            <a:off x="9283700" y="2120900"/>
            <a:ext cx="2120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A78BFA"/>
                </a:solidFill>
                <a:latin typeface="Aptos" panose="020B0004020202020204" pitchFamily="34" charset="0"/>
              </a:rPr>
              <a:t>notifications.db</a:t>
            </a:r>
            <a:endParaRPr lang="ru-RU" sz="1600" b="1">
              <a:solidFill>
                <a:srgbClr val="A78BFA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F15CDD-9331-1261-4A72-712BAD2BFE1D}"/>
              </a:ext>
            </a:extLst>
          </p:cNvPr>
          <p:cNvSpPr txBox="1"/>
          <p:nvPr/>
        </p:nvSpPr>
        <p:spPr>
          <a:xfrm>
            <a:off x="9283700" y="2514600"/>
            <a:ext cx="2120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Какие события уже обработаны и не должны повторяться.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D315BFB-1A3C-E342-BC98-AE9C94FBA215}"/>
              </a:ext>
            </a:extLst>
          </p:cNvPr>
          <p:cNvSpPr/>
          <p:nvPr/>
        </p:nvSpPr>
        <p:spPr>
          <a:xfrm>
            <a:off x="4152900" y="4381500"/>
            <a:ext cx="3873500" cy="355600"/>
          </a:xfrm>
          <a:prstGeom prst="round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5050B0-7E19-0425-908C-8CD6C360E1A8}"/>
              </a:ext>
            </a:extLst>
          </p:cNvPr>
          <p:cNvSpPr txBox="1"/>
          <p:nvPr/>
        </p:nvSpPr>
        <p:spPr>
          <a:xfrm>
            <a:off x="4152900" y="4445000"/>
            <a:ext cx="387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000" b="1">
                <a:solidFill>
                  <a:srgbClr val="F6F8FA"/>
                </a:solidFill>
                <a:latin typeface="Aptos" panose="020B0004020202020204" pitchFamily="34" charset="0"/>
              </a:rPr>
              <a:t>НЕТ ОБЩЕЙ БАЗЫ ДАННЫХ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FB209A-7120-922E-D98B-238411B99F6D}"/>
              </a:ext>
            </a:extLst>
          </p:cNvPr>
          <p:cNvSpPr txBox="1"/>
          <p:nvPr/>
        </p:nvSpPr>
        <p:spPr>
          <a:xfrm>
            <a:off x="1333500" y="5080000"/>
            <a:ext cx="952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>
                <a:solidFill>
                  <a:srgbClr val="9FB0BF"/>
                </a:solidFill>
                <a:latin typeface="Aptos" panose="020B0004020202020204" pitchFamily="34" charset="0"/>
              </a:rPr>
              <a:t>•  Сервисы общаются через HTTP-контракты и события, а не через таблицы соседа.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83BD11-3F3C-E1F2-A5CA-E9B04C221B3C}"/>
              </a:ext>
            </a:extLst>
          </p:cNvPr>
          <p:cNvSpPr txBox="1"/>
          <p:nvPr/>
        </p:nvSpPr>
        <p:spPr>
          <a:xfrm>
            <a:off x="1333500" y="5456767"/>
            <a:ext cx="952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>
                <a:solidFill>
                  <a:srgbClr val="9FB0BF"/>
                </a:solidFill>
                <a:latin typeface="Aptos" panose="020B0004020202020204" pitchFamily="34" charset="0"/>
              </a:rPr>
              <a:t>•  Заказ хранит снимок названия и цены — история не меняется вместе с каталогом.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AE1FE0-9996-8210-ACB3-B4F77247693F}"/>
              </a:ext>
            </a:extLst>
          </p:cNvPr>
          <p:cNvSpPr txBox="1"/>
          <p:nvPr/>
        </p:nvSpPr>
        <p:spPr>
          <a:xfrm>
            <a:off x="1333500" y="5833533"/>
            <a:ext cx="952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>
                <a:solidFill>
                  <a:srgbClr val="9FB0BF"/>
                </a:solidFill>
                <a:latin typeface="Aptos" panose="020B0004020202020204" pitchFamily="34" charset="0"/>
              </a:rPr>
              <a:t>•  SQLite-файлы смонтированы в host volumes и переживают пересоздание контейнеров.</a:t>
            </a:r>
          </a:p>
        </p:txBody>
      </p:sp>
    </p:spTree>
    <p:extLst>
      <p:ext uri="{BB962C8B-B14F-4D97-AF65-F5344CB8AC3E}">
        <p14:creationId xmlns:p14="http://schemas.microsoft.com/office/powerpoint/2010/main" val="310916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8AA52-EA83-C0BF-E789-988029A1B831}"/>
              </a:ext>
            </a:extLst>
          </p:cNvPr>
          <p:cNvSpPr txBox="1"/>
          <p:nvPr/>
        </p:nvSpPr>
        <p:spPr>
          <a:xfrm>
            <a:off x="533400" y="279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7D5D5"/>
                </a:solidFill>
                <a:latin typeface="Aptos" panose="020B0004020202020204" pitchFamily="34" charset="0"/>
              </a:rPr>
              <a:t>ASPOTUS · </a:t>
            </a:r>
            <a:r>
              <a:rPr lang="ru-RU" sz="900" b="1">
                <a:solidFill>
                  <a:srgbClr val="37D5D5"/>
                </a:solidFill>
                <a:latin typeface="Aptos" panose="020B0004020202020204" pitchFamily="34" charset="0"/>
              </a:rPr>
              <a:t>АРХИТЕКТУРА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3434B-59FE-FD94-AABC-9234505E8C40}"/>
              </a:ext>
            </a:extLst>
          </p:cNvPr>
          <p:cNvSpPr txBox="1"/>
          <p:nvPr/>
        </p:nvSpPr>
        <p:spPr>
          <a:xfrm>
            <a:off x="533400" y="609600"/>
            <a:ext cx="1111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>
                <a:solidFill>
                  <a:srgbClr val="F6F8FA"/>
                </a:solidFill>
                <a:latin typeface="Aptos" panose="020B0004020202020204" pitchFamily="34" charset="0"/>
              </a:rPr>
              <a:t>Два интерфейса — разные рабочие сценарии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55ECA0F-ED06-AABC-1215-1F48077C59AC}"/>
              </a:ext>
            </a:extLst>
          </p:cNvPr>
          <p:cNvSpPr/>
          <p:nvPr/>
        </p:nvSpPr>
        <p:spPr>
          <a:xfrm>
            <a:off x="533400" y="1282700"/>
            <a:ext cx="889000" cy="50800"/>
          </a:xfrm>
          <a:prstGeom prst="rect">
            <a:avLst/>
          </a:prstGeom>
          <a:solidFill>
            <a:srgbClr val="37D5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C6B7F-85C5-B318-E9DA-5D24DD6D6BA4}"/>
              </a:ext>
            </a:extLst>
          </p:cNvPr>
          <p:cNvSpPr txBox="1"/>
          <p:nvPr/>
        </p:nvSpPr>
        <p:spPr>
          <a:xfrm>
            <a:off x="533400" y="65405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FB0BF"/>
                </a:solidFill>
                <a:latin typeface="Aptos" panose="020B0004020202020204" pitchFamily="34" charset="0"/>
              </a:rPr>
              <a:t>aspotus-project</a:t>
            </a:r>
            <a:endParaRPr lang="ru-RU" sz="8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E2F65-D651-ADD9-BDC7-63BBC226975E}"/>
              </a:ext>
            </a:extLst>
          </p:cNvPr>
          <p:cNvSpPr txBox="1"/>
          <p:nvPr/>
        </p:nvSpPr>
        <p:spPr>
          <a:xfrm>
            <a:off x="11239500" y="65151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900" b="1">
                <a:solidFill>
                  <a:srgbClr val="9FB0BF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7CD41EB-3DDF-DA44-50C6-1128172D4FA9}"/>
              </a:ext>
            </a:extLst>
          </p:cNvPr>
          <p:cNvSpPr/>
          <p:nvPr/>
        </p:nvSpPr>
        <p:spPr>
          <a:xfrm>
            <a:off x="889000" y="1778000"/>
            <a:ext cx="4635500" cy="3619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51B4A-964D-1E00-166D-25878A0ABBC4}"/>
              </a:ext>
            </a:extLst>
          </p:cNvPr>
          <p:cNvSpPr txBox="1"/>
          <p:nvPr/>
        </p:nvSpPr>
        <p:spPr>
          <a:xfrm>
            <a:off x="1066800" y="1930400"/>
            <a:ext cx="4279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4DA3FF"/>
                </a:solidFill>
                <a:latin typeface="Aptos" panose="020B0004020202020204" pitchFamily="34" charset="0"/>
              </a:rPr>
              <a:t>CUSTOMER WEB</a:t>
            </a:r>
            <a:endParaRPr lang="ru-RU" sz="2200" b="1">
              <a:solidFill>
                <a:srgbClr val="4DA3FF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6D5EE-3737-4484-F0D7-B488057882B7}"/>
              </a:ext>
            </a:extLst>
          </p:cNvPr>
          <p:cNvSpPr txBox="1"/>
          <p:nvPr/>
        </p:nvSpPr>
        <p:spPr>
          <a:xfrm>
            <a:off x="1066800" y="2324100"/>
            <a:ext cx="42799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>
                <a:solidFill>
                  <a:srgbClr val="9FB0BF"/>
                </a:solidFill>
                <a:latin typeface="Aptos" panose="020B0004020202020204" pitchFamily="34" charset="0"/>
              </a:rPr>
              <a:t>React 19 · Vite 8 · React Bootstrap
Каталог и поиск
Карточка и фотогалерея
Корзина со счётчиком
Checkout и профиль заказов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F64B76B-7A44-252D-BF8A-FA098E8B6C41}"/>
              </a:ext>
            </a:extLst>
          </p:cNvPr>
          <p:cNvSpPr/>
          <p:nvPr/>
        </p:nvSpPr>
        <p:spPr>
          <a:xfrm>
            <a:off x="6667500" y="1778000"/>
            <a:ext cx="4635500" cy="3619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A78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044943-5998-D94E-97DA-D791E05853D7}"/>
              </a:ext>
            </a:extLst>
          </p:cNvPr>
          <p:cNvSpPr txBox="1"/>
          <p:nvPr/>
        </p:nvSpPr>
        <p:spPr>
          <a:xfrm>
            <a:off x="6845300" y="1930400"/>
            <a:ext cx="4279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A78BFA"/>
                </a:solidFill>
                <a:latin typeface="Aptos" panose="020B0004020202020204" pitchFamily="34" charset="0"/>
              </a:rPr>
              <a:t>ADMIN WEB</a:t>
            </a:r>
            <a:endParaRPr lang="ru-RU" sz="2200" b="1">
              <a:solidFill>
                <a:srgbClr val="A78BF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B224D-BFE4-AFF6-902F-B846EC263035}"/>
              </a:ext>
            </a:extLst>
          </p:cNvPr>
          <p:cNvSpPr txBox="1"/>
          <p:nvPr/>
        </p:nvSpPr>
        <p:spPr>
          <a:xfrm>
            <a:off x="6845300" y="2324100"/>
            <a:ext cx="42799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>
                <a:solidFill>
                  <a:srgbClr val="9FB0BF"/>
                </a:solidFill>
                <a:latin typeface="Aptos" panose="020B0004020202020204" pitchFamily="34" charset="0"/>
              </a:rPr>
              <a:t>React 19 · Vite 8 · Material UI
Ролевое меню
CRUD каталога и изображений
Операторская панель на реальных данных
Статусы заказов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F9236-F866-62A6-CAFC-1788D59251EC}"/>
              </a:ext>
            </a:extLst>
          </p:cNvPr>
          <p:cNvSpPr txBox="1"/>
          <p:nvPr/>
        </p:nvSpPr>
        <p:spPr>
          <a:xfrm>
            <a:off x="1651000" y="5842000"/>
            <a:ext cx="889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300" b="1">
                <a:solidFill>
                  <a:srgbClr val="37D5D5"/>
                </a:solidFill>
                <a:latin typeface="Aptos" panose="020B0004020202020204" pitchFamily="34" charset="0"/>
              </a:rPr>
              <a:t>Общий принцип: </a:t>
            </a:r>
            <a:r>
              <a:rPr lang="en-US" sz="1300" b="1">
                <a:solidFill>
                  <a:srgbClr val="37D5D5"/>
                </a:solidFill>
                <a:latin typeface="Aptos" panose="020B0004020202020204" pitchFamily="34" charset="0"/>
              </a:rPr>
              <a:t>API </a:t>
            </a:r>
            <a:r>
              <a:rPr lang="ru-RU" sz="1300" b="1">
                <a:solidFill>
                  <a:srgbClr val="37D5D5"/>
                </a:solidFill>
                <a:latin typeface="Aptos" panose="020B0004020202020204" pitchFamily="34" charset="0"/>
              </a:rPr>
              <a:t>через </a:t>
            </a:r>
            <a:r>
              <a:rPr lang="en-US" sz="1300" b="1">
                <a:solidFill>
                  <a:srgbClr val="37D5D5"/>
                </a:solidFill>
                <a:latin typeface="Aptos" panose="020B0004020202020204" pitchFamily="34" charset="0"/>
              </a:rPr>
              <a:t>Gateway · JWT · lazy routes · </a:t>
            </a:r>
            <a:r>
              <a:rPr lang="ru-RU" sz="1300" b="1">
                <a:solidFill>
                  <a:srgbClr val="37D5D5"/>
                </a:solidFill>
                <a:latin typeface="Aptos" panose="020B0004020202020204" pitchFamily="34" charset="0"/>
              </a:rPr>
              <a:t>адаптивный </a:t>
            </a:r>
            <a:r>
              <a:rPr lang="en-US" sz="1300" b="1">
                <a:solidFill>
                  <a:srgbClr val="37D5D5"/>
                </a:solidFill>
                <a:latin typeface="Aptos" panose="020B0004020202020204" pitchFamily="34" charset="0"/>
              </a:rPr>
              <a:t>UI</a:t>
            </a:r>
            <a:endParaRPr lang="ru-RU" sz="1300" b="1">
              <a:solidFill>
                <a:srgbClr val="37D5D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428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EAD719-73C5-EF73-6102-742F07093A83}"/>
              </a:ext>
            </a:extLst>
          </p:cNvPr>
          <p:cNvSpPr txBox="1"/>
          <p:nvPr/>
        </p:nvSpPr>
        <p:spPr>
          <a:xfrm>
            <a:off x="533400" y="279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7D5D5"/>
                </a:solidFill>
                <a:latin typeface="Aptos" panose="020B0004020202020204" pitchFamily="34" charset="0"/>
              </a:rPr>
              <a:t>ASPOTUS · </a:t>
            </a:r>
            <a:r>
              <a:rPr lang="ru-RU" sz="900" b="1">
                <a:solidFill>
                  <a:srgbClr val="37D5D5"/>
                </a:solidFill>
                <a:latin typeface="Aptos" panose="020B0004020202020204" pitchFamily="34" charset="0"/>
              </a:rPr>
              <a:t>АРХИТЕКТУРА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04503B-EF0C-59A1-296E-498A525C95C3}"/>
              </a:ext>
            </a:extLst>
          </p:cNvPr>
          <p:cNvSpPr txBox="1"/>
          <p:nvPr/>
        </p:nvSpPr>
        <p:spPr>
          <a:xfrm>
            <a:off x="533400" y="609600"/>
            <a:ext cx="1111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>
                <a:solidFill>
                  <a:srgbClr val="F6F8FA"/>
                </a:solidFill>
                <a:latin typeface="Aptos" panose="020B0004020202020204" pitchFamily="34" charset="0"/>
              </a:rPr>
              <a:t>Надёжность и эксплуатационные свойства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DEF5381-118E-3331-5969-3E540DF72511}"/>
              </a:ext>
            </a:extLst>
          </p:cNvPr>
          <p:cNvSpPr/>
          <p:nvPr/>
        </p:nvSpPr>
        <p:spPr>
          <a:xfrm>
            <a:off x="533400" y="1282700"/>
            <a:ext cx="889000" cy="50800"/>
          </a:xfrm>
          <a:prstGeom prst="rect">
            <a:avLst/>
          </a:prstGeom>
          <a:solidFill>
            <a:srgbClr val="37D5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944F4-2835-BF7E-3A21-E9BDE79ED537}"/>
              </a:ext>
            </a:extLst>
          </p:cNvPr>
          <p:cNvSpPr txBox="1"/>
          <p:nvPr/>
        </p:nvSpPr>
        <p:spPr>
          <a:xfrm>
            <a:off x="533400" y="65405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FB0BF"/>
                </a:solidFill>
                <a:latin typeface="Aptos" panose="020B0004020202020204" pitchFamily="34" charset="0"/>
              </a:rPr>
              <a:t>aspotus-project</a:t>
            </a:r>
            <a:endParaRPr lang="ru-RU" sz="8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7B4704-E4C5-E5F2-48D7-EDABB6A9CBBE}"/>
              </a:ext>
            </a:extLst>
          </p:cNvPr>
          <p:cNvSpPr txBox="1"/>
          <p:nvPr/>
        </p:nvSpPr>
        <p:spPr>
          <a:xfrm>
            <a:off x="11239500" y="65151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900" b="1">
                <a:solidFill>
                  <a:srgbClr val="9FB0BF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D9A2C19-80F4-7D8A-A10C-FCE60550B705}"/>
              </a:ext>
            </a:extLst>
          </p:cNvPr>
          <p:cNvSpPr/>
          <p:nvPr/>
        </p:nvSpPr>
        <p:spPr>
          <a:xfrm>
            <a:off x="533400" y="1714500"/>
            <a:ext cx="3365500" cy="1651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55D6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390669-6909-B3E9-BFC5-B3111EE6CC24}"/>
              </a:ext>
            </a:extLst>
          </p:cNvPr>
          <p:cNvSpPr txBox="1"/>
          <p:nvPr/>
        </p:nvSpPr>
        <p:spPr>
          <a:xfrm>
            <a:off x="711200" y="18669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55D68B"/>
                </a:solidFill>
                <a:latin typeface="Aptos" panose="020B0004020202020204" pitchFamily="34" charset="0"/>
              </a:rPr>
              <a:t>Автомиграции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C9F65-3515-D52F-50B9-9CCDE1ADABD0}"/>
              </a:ext>
            </a:extLst>
          </p:cNvPr>
          <p:cNvSpPr txBox="1"/>
          <p:nvPr/>
        </p:nvSpPr>
        <p:spPr>
          <a:xfrm>
            <a:off x="711200" y="2260600"/>
            <a:ext cx="30099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При старте сервис приводит схему своей БД к ожидаемой версии.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5DB8D7B-1B3A-893F-6ED7-467FD25C4744}"/>
              </a:ext>
            </a:extLst>
          </p:cNvPr>
          <p:cNvSpPr/>
          <p:nvPr/>
        </p:nvSpPr>
        <p:spPr>
          <a:xfrm>
            <a:off x="4267200" y="1714500"/>
            <a:ext cx="3365500" cy="1651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6B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E8D40B-D9A8-BA5C-8284-958892504101}"/>
              </a:ext>
            </a:extLst>
          </p:cNvPr>
          <p:cNvSpPr txBox="1"/>
          <p:nvPr/>
        </p:nvSpPr>
        <p:spPr>
          <a:xfrm>
            <a:off x="4445000" y="18669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F6B6B"/>
                </a:solidFill>
                <a:latin typeface="Aptos" panose="020B0004020202020204" pitchFamily="34" charset="0"/>
              </a:rPr>
              <a:t>Компенсация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1EF5B9-686A-EAA7-2711-8B752E9C8A5D}"/>
              </a:ext>
            </a:extLst>
          </p:cNvPr>
          <p:cNvSpPr txBox="1"/>
          <p:nvPr/>
        </p:nvSpPr>
        <p:spPr>
          <a:xfrm>
            <a:off x="4445000" y="2260600"/>
            <a:ext cx="30099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Если заказ не сохранился, созданный резерв освобождается автоматически.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9259A62-739A-9F63-EFB1-3284F1618841}"/>
              </a:ext>
            </a:extLst>
          </p:cNvPr>
          <p:cNvSpPr/>
          <p:nvPr/>
        </p:nvSpPr>
        <p:spPr>
          <a:xfrm>
            <a:off x="8001000" y="1714500"/>
            <a:ext cx="3365500" cy="1651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37D5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CEF2D8-C10D-7E49-2437-5579AD76EA9B}"/>
              </a:ext>
            </a:extLst>
          </p:cNvPr>
          <p:cNvSpPr txBox="1"/>
          <p:nvPr/>
        </p:nvSpPr>
        <p:spPr>
          <a:xfrm>
            <a:off x="8178800" y="18669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37D5D5"/>
                </a:solidFill>
                <a:latin typeface="Aptos" panose="020B0004020202020204" pitchFamily="34" charset="0"/>
              </a:rPr>
              <a:t>Идемпотентность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E81EBD-8177-5292-26C3-04511B5599D7}"/>
              </a:ext>
            </a:extLst>
          </p:cNvPr>
          <p:cNvSpPr txBox="1"/>
          <p:nvPr/>
        </p:nvSpPr>
        <p:spPr>
          <a:xfrm>
            <a:off x="8178800" y="2260600"/>
            <a:ext cx="30099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Повтор Reserve / Release / Complete не портит состояние и не дублирует результат.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618E2182-00CB-EF9F-8B02-6BF42F973AD8}"/>
              </a:ext>
            </a:extLst>
          </p:cNvPr>
          <p:cNvSpPr/>
          <p:nvPr/>
        </p:nvSpPr>
        <p:spPr>
          <a:xfrm>
            <a:off x="533400" y="3810000"/>
            <a:ext cx="3365500" cy="1651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6B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7377CC-83FF-4A26-E459-371F3A39AB79}"/>
              </a:ext>
            </a:extLst>
          </p:cNvPr>
          <p:cNvSpPr txBox="1"/>
          <p:nvPr/>
        </p:nvSpPr>
        <p:spPr>
          <a:xfrm>
            <a:off x="711200" y="39624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6B6B"/>
                </a:solidFill>
                <a:latin typeface="Aptos" panose="020B0004020202020204" pitchFamily="34" charset="0"/>
              </a:rPr>
              <a:t>Cache fallback</a:t>
            </a:r>
            <a:endParaRPr lang="ru-RU" sz="1600" b="1">
              <a:solidFill>
                <a:srgbClr val="FF6B6B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ACDE9E-F19D-1052-40C1-5BD8C937FF6D}"/>
              </a:ext>
            </a:extLst>
          </p:cNvPr>
          <p:cNvSpPr txBox="1"/>
          <p:nvPr/>
        </p:nvSpPr>
        <p:spPr>
          <a:xfrm>
            <a:off x="711200" y="4356100"/>
            <a:ext cx="30099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Если Redis недоступен, Catalog читает SQLite: медленнее, но продолжает работать.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44F9513-225F-AE16-3F06-56C9FA33B088}"/>
              </a:ext>
            </a:extLst>
          </p:cNvPr>
          <p:cNvSpPr/>
          <p:nvPr/>
        </p:nvSpPr>
        <p:spPr>
          <a:xfrm>
            <a:off x="4267200" y="3810000"/>
            <a:ext cx="3365500" cy="1651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C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191584-0AF4-4967-28D0-1B834CE7FE30}"/>
              </a:ext>
            </a:extLst>
          </p:cNvPr>
          <p:cNvSpPr txBox="1"/>
          <p:nvPr/>
        </p:nvSpPr>
        <p:spPr>
          <a:xfrm>
            <a:off x="4445000" y="39624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FC857"/>
                </a:solidFill>
                <a:latin typeface="Aptos" panose="020B0004020202020204" pitchFamily="34" charset="0"/>
              </a:rPr>
              <a:t>Единые ошибки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BB7F81-9E33-D5F4-1003-B09A28BC9451}"/>
              </a:ext>
            </a:extLst>
          </p:cNvPr>
          <p:cNvSpPr txBox="1"/>
          <p:nvPr/>
        </p:nvSpPr>
        <p:spPr>
          <a:xfrm>
            <a:off x="4445000" y="4356100"/>
            <a:ext cx="30099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Middleware превращает доменные исключения в понятные HTTP-коды для клиентов.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9F6D2031-EB71-F3D0-7076-274CC4CF7C60}"/>
              </a:ext>
            </a:extLst>
          </p:cNvPr>
          <p:cNvSpPr/>
          <p:nvPr/>
        </p:nvSpPr>
        <p:spPr>
          <a:xfrm>
            <a:off x="8001000" y="3810000"/>
            <a:ext cx="3365500" cy="1651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A78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505E29-B5E3-A546-106A-163ED12AD0AB}"/>
              </a:ext>
            </a:extLst>
          </p:cNvPr>
          <p:cNvSpPr txBox="1"/>
          <p:nvPr/>
        </p:nvSpPr>
        <p:spPr>
          <a:xfrm>
            <a:off x="8178800" y="39624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A78BFA"/>
                </a:solidFill>
                <a:latin typeface="Aptos" panose="020B0004020202020204" pitchFamily="34" charset="0"/>
              </a:rPr>
              <a:t>Диагностика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611EB3-6B67-0661-5A6F-221D3B0084AA}"/>
              </a:ext>
            </a:extLst>
          </p:cNvPr>
          <p:cNvSpPr txBox="1"/>
          <p:nvPr/>
        </p:nvSpPr>
        <p:spPr>
          <a:xfrm>
            <a:off x="8178800" y="4356100"/>
            <a:ext cx="30099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>
                <a:solidFill>
                  <a:srgbClr val="9FB0BF"/>
                </a:solidFill>
                <a:latin typeface="Aptos" panose="020B0004020202020204" pitchFamily="34" charset="0"/>
              </a:rPr>
              <a:t>Swagger показывает контракты, логи объясняют сбои, health checks проверяют зависимости.</a:t>
            </a:r>
          </a:p>
        </p:txBody>
      </p:sp>
    </p:spTree>
    <p:extLst>
      <p:ext uri="{BB962C8B-B14F-4D97-AF65-F5344CB8AC3E}">
        <p14:creationId xmlns:p14="http://schemas.microsoft.com/office/powerpoint/2010/main" val="1226058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71C5F5-B6C5-A9EC-9BFC-A309CA73ED4D}"/>
              </a:ext>
            </a:extLst>
          </p:cNvPr>
          <p:cNvSpPr txBox="1"/>
          <p:nvPr/>
        </p:nvSpPr>
        <p:spPr>
          <a:xfrm>
            <a:off x="533400" y="279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7D5D5"/>
                </a:solidFill>
                <a:latin typeface="Aptos" panose="020B0004020202020204" pitchFamily="34" charset="0"/>
              </a:rPr>
              <a:t>ASPOTUS · </a:t>
            </a:r>
            <a:r>
              <a:rPr lang="ru-RU" sz="900" b="1">
                <a:solidFill>
                  <a:srgbClr val="37D5D5"/>
                </a:solidFill>
                <a:latin typeface="Aptos" panose="020B0004020202020204" pitchFamily="34" charset="0"/>
              </a:rPr>
              <a:t>АРХИТЕКТУРА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08D417-4470-4A0A-B161-29135A5850CF}"/>
              </a:ext>
            </a:extLst>
          </p:cNvPr>
          <p:cNvSpPr txBox="1"/>
          <p:nvPr/>
        </p:nvSpPr>
        <p:spPr>
          <a:xfrm>
            <a:off x="533400" y="609600"/>
            <a:ext cx="1111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>
                <a:solidFill>
                  <a:srgbClr val="F6F8FA"/>
                </a:solidFill>
                <a:latin typeface="Aptos" panose="020B0004020202020204" pitchFamily="34" charset="0"/>
              </a:rPr>
              <a:t>Тестовая стратегия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062691D-3C3C-6503-27B9-D34D52B8309C}"/>
              </a:ext>
            </a:extLst>
          </p:cNvPr>
          <p:cNvSpPr/>
          <p:nvPr/>
        </p:nvSpPr>
        <p:spPr>
          <a:xfrm>
            <a:off x="533400" y="1282700"/>
            <a:ext cx="889000" cy="50800"/>
          </a:xfrm>
          <a:prstGeom prst="rect">
            <a:avLst/>
          </a:prstGeom>
          <a:solidFill>
            <a:srgbClr val="37D5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53D05-D492-0626-9D24-2B4C5D661853}"/>
              </a:ext>
            </a:extLst>
          </p:cNvPr>
          <p:cNvSpPr txBox="1"/>
          <p:nvPr/>
        </p:nvSpPr>
        <p:spPr>
          <a:xfrm>
            <a:off x="533400" y="65405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FB0BF"/>
                </a:solidFill>
                <a:latin typeface="Aptos" panose="020B0004020202020204" pitchFamily="34" charset="0"/>
              </a:rPr>
              <a:t>aspotus-project</a:t>
            </a:r>
            <a:endParaRPr lang="ru-RU" sz="8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1348D-7279-AF25-E3FA-F89EEA2F094D}"/>
              </a:ext>
            </a:extLst>
          </p:cNvPr>
          <p:cNvSpPr txBox="1"/>
          <p:nvPr/>
        </p:nvSpPr>
        <p:spPr>
          <a:xfrm>
            <a:off x="11239500" y="65151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900" b="1">
                <a:solidFill>
                  <a:srgbClr val="9FB0BF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3712343-2B9B-A706-E4C7-7FAE276B357E}"/>
              </a:ext>
            </a:extLst>
          </p:cNvPr>
          <p:cNvSpPr/>
          <p:nvPr/>
        </p:nvSpPr>
        <p:spPr>
          <a:xfrm>
            <a:off x="825500" y="1841500"/>
            <a:ext cx="2794000" cy="2159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55D6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B29F62-BFD5-64B1-1E97-D1F281BD4A0E}"/>
              </a:ext>
            </a:extLst>
          </p:cNvPr>
          <p:cNvSpPr txBox="1"/>
          <p:nvPr/>
        </p:nvSpPr>
        <p:spPr>
          <a:xfrm>
            <a:off x="1003300" y="1993900"/>
            <a:ext cx="243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400" b="1">
                <a:solidFill>
                  <a:srgbClr val="55D68B"/>
                </a:solidFill>
                <a:latin typeface="Aptos" panose="020B0004020202020204" pitchFamily="34" charset="0"/>
              </a:rPr>
              <a:t>157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DBB97-E9EA-122B-AA83-3A734EA0CF12}"/>
              </a:ext>
            </a:extLst>
          </p:cNvPr>
          <p:cNvSpPr txBox="1"/>
          <p:nvPr/>
        </p:nvSpPr>
        <p:spPr>
          <a:xfrm>
            <a:off x="1003300" y="2387600"/>
            <a:ext cx="2438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9FB0BF"/>
                </a:solidFill>
                <a:latin typeface="Aptos" panose="020B0004020202020204" pitchFamily="34" charset="0"/>
              </a:rPr>
              <a:t>Backend tests
xUnit · Moq
AwesomeAssertions</a:t>
            </a:r>
            <a:endParaRPr lang="ru-RU" sz="15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EFFD5651-033F-A555-1903-CD8A82D9C28B}"/>
              </a:ext>
            </a:extLst>
          </p:cNvPr>
          <p:cNvSpPr/>
          <p:nvPr/>
        </p:nvSpPr>
        <p:spPr>
          <a:xfrm>
            <a:off x="4699000" y="1841500"/>
            <a:ext cx="2794000" cy="2159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502CEE-C838-702F-D53E-1C47CFC44D0D}"/>
              </a:ext>
            </a:extLst>
          </p:cNvPr>
          <p:cNvSpPr txBox="1"/>
          <p:nvPr/>
        </p:nvSpPr>
        <p:spPr>
          <a:xfrm>
            <a:off x="4876800" y="1993900"/>
            <a:ext cx="243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400" b="1">
                <a:solidFill>
                  <a:srgbClr val="4DA3FF"/>
                </a:solidFill>
                <a:latin typeface="Aptos" panose="020B0004020202020204" pitchFamily="34" charset="0"/>
              </a:rPr>
              <a:t>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5D191A-787B-0A3B-6CA8-51B6E941152F}"/>
              </a:ext>
            </a:extLst>
          </p:cNvPr>
          <p:cNvSpPr txBox="1"/>
          <p:nvPr/>
        </p:nvSpPr>
        <p:spPr>
          <a:xfrm>
            <a:off x="4876800" y="2387600"/>
            <a:ext cx="2438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9FB0BF"/>
                </a:solidFill>
                <a:latin typeface="Aptos" panose="020B0004020202020204" pitchFamily="34" charset="0"/>
              </a:rPr>
              <a:t>Customer Web tests
Vitest
Testing Library</a:t>
            </a:r>
            <a:endParaRPr lang="ru-RU" sz="15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E30AF27-B67D-7F06-0BE5-84524D2F0D4C}"/>
              </a:ext>
            </a:extLst>
          </p:cNvPr>
          <p:cNvSpPr/>
          <p:nvPr/>
        </p:nvSpPr>
        <p:spPr>
          <a:xfrm>
            <a:off x="8572500" y="1841500"/>
            <a:ext cx="2794000" cy="2159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A78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8F51D8-49AF-6B41-3461-7C6E8CDDE089}"/>
              </a:ext>
            </a:extLst>
          </p:cNvPr>
          <p:cNvSpPr txBox="1"/>
          <p:nvPr/>
        </p:nvSpPr>
        <p:spPr>
          <a:xfrm>
            <a:off x="8750300" y="1993900"/>
            <a:ext cx="243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400" b="1">
                <a:solidFill>
                  <a:srgbClr val="A78BFA"/>
                </a:solidFill>
                <a:latin typeface="Aptos" panose="020B0004020202020204" pitchFamily="34" charset="0"/>
              </a:rPr>
              <a:t>50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ECBD04-73FE-867B-1833-9EFE055193B6}"/>
              </a:ext>
            </a:extLst>
          </p:cNvPr>
          <p:cNvSpPr txBox="1"/>
          <p:nvPr/>
        </p:nvSpPr>
        <p:spPr>
          <a:xfrm>
            <a:off x="8750300" y="2387600"/>
            <a:ext cx="2438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9FB0BF"/>
                </a:solidFill>
                <a:latin typeface="Aptos" panose="020B0004020202020204" pitchFamily="34" charset="0"/>
              </a:rPr>
              <a:t>Admin Web tests
Vitest
Testing Library</a:t>
            </a:r>
            <a:endParaRPr lang="ru-RU" sz="15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B9F5C83B-2C6C-CFFC-A99D-16C33144C095}"/>
              </a:ext>
            </a:extLst>
          </p:cNvPr>
          <p:cNvCxnSpPr/>
          <p:nvPr/>
        </p:nvCxnSpPr>
        <p:spPr>
          <a:xfrm>
            <a:off x="2095500" y="4635500"/>
            <a:ext cx="8001000" cy="0"/>
          </a:xfrm>
          <a:prstGeom prst="straightConnector1">
            <a:avLst/>
          </a:prstGeom>
          <a:ln w="50800">
            <a:solidFill>
              <a:srgbClr val="29405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164D329-7EF1-BBCC-9989-5DE49812C893}"/>
              </a:ext>
            </a:extLst>
          </p:cNvPr>
          <p:cNvSpPr/>
          <p:nvPr/>
        </p:nvSpPr>
        <p:spPr>
          <a:xfrm>
            <a:off x="825500" y="5207000"/>
            <a:ext cx="2794000" cy="355600"/>
          </a:xfrm>
          <a:prstGeom prst="roundRect">
            <a:avLst/>
          </a:prstGeom>
          <a:solidFill>
            <a:srgbClr val="55D6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116D81-AA0C-7636-8459-831AC43BF73F}"/>
              </a:ext>
            </a:extLst>
          </p:cNvPr>
          <p:cNvSpPr txBox="1"/>
          <p:nvPr/>
        </p:nvSpPr>
        <p:spPr>
          <a:xfrm>
            <a:off x="825500" y="5270500"/>
            <a:ext cx="279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081018"/>
                </a:solidFill>
                <a:latin typeface="Aptos" panose="020B0004020202020204" pitchFamily="34" charset="0"/>
              </a:rPr>
              <a:t>UNIT / CONTROLLER</a:t>
            </a:r>
            <a:endParaRPr lang="ru-RU" sz="1000" b="1">
              <a:solidFill>
                <a:srgbClr val="081018"/>
              </a:solidFill>
              <a:latin typeface="Aptos" panose="020B0004020202020204" pitchFamily="34" charset="0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816448E0-CFE4-A675-FE0E-88032204B984}"/>
              </a:ext>
            </a:extLst>
          </p:cNvPr>
          <p:cNvSpPr/>
          <p:nvPr/>
        </p:nvSpPr>
        <p:spPr>
          <a:xfrm>
            <a:off x="4699000" y="5207000"/>
            <a:ext cx="2794000" cy="355600"/>
          </a:xfrm>
          <a:prstGeom prst="roundRect">
            <a:avLst/>
          </a:prstGeom>
          <a:solidFill>
            <a:srgbClr val="4DA3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111CC3-85D5-1205-88C6-54DC60E7D478}"/>
              </a:ext>
            </a:extLst>
          </p:cNvPr>
          <p:cNvSpPr txBox="1"/>
          <p:nvPr/>
        </p:nvSpPr>
        <p:spPr>
          <a:xfrm>
            <a:off x="4699000" y="5270500"/>
            <a:ext cx="279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081018"/>
                </a:solidFill>
                <a:latin typeface="Aptos" panose="020B0004020202020204" pitchFamily="34" charset="0"/>
              </a:rPr>
              <a:t>COMPONENT / INTEGRATION</a:t>
            </a:r>
            <a:endParaRPr lang="ru-RU" sz="1000" b="1">
              <a:solidFill>
                <a:srgbClr val="081018"/>
              </a:solidFill>
              <a:latin typeface="Aptos" panose="020B0004020202020204" pitchFamily="34" charset="0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779D2859-C7C6-8BD0-09DB-8C9D5E112562}"/>
              </a:ext>
            </a:extLst>
          </p:cNvPr>
          <p:cNvSpPr/>
          <p:nvPr/>
        </p:nvSpPr>
        <p:spPr>
          <a:xfrm>
            <a:off x="8572500" y="5207000"/>
            <a:ext cx="2794000" cy="355600"/>
          </a:xfrm>
          <a:prstGeom prst="roundRect">
            <a:avLst/>
          </a:prstGeom>
          <a:solidFill>
            <a:srgbClr val="A78B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455914-AAAD-B6E8-25EF-A991EE613138}"/>
              </a:ext>
            </a:extLst>
          </p:cNvPr>
          <p:cNvSpPr txBox="1"/>
          <p:nvPr/>
        </p:nvSpPr>
        <p:spPr>
          <a:xfrm>
            <a:off x="8572500" y="5270500"/>
            <a:ext cx="279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081018"/>
                </a:solidFill>
                <a:latin typeface="Aptos" panose="020B0004020202020204" pitchFamily="34" charset="0"/>
              </a:rPr>
              <a:t>PLAYWRIGHT E2E + DOCKER</a:t>
            </a:r>
            <a:endParaRPr lang="ru-RU" sz="1000" b="1">
              <a:solidFill>
                <a:srgbClr val="081018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B6688B-8626-88B7-1662-D76AC94EA668}"/>
              </a:ext>
            </a:extLst>
          </p:cNvPr>
          <p:cNvSpPr txBox="1"/>
          <p:nvPr/>
        </p:nvSpPr>
        <p:spPr>
          <a:xfrm>
            <a:off x="1143000" y="5905500"/>
            <a:ext cx="990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200">
                <a:solidFill>
                  <a:srgbClr val="9FB0BF"/>
                </a:solidFill>
                <a:latin typeface="Aptos" panose="020B0004020202020204" pitchFamily="34" charset="0"/>
              </a:rPr>
              <a:t>E2E проверяет доступность, защиту маршрутов, вход администратора и полный цикл резерва автомобиля.</a:t>
            </a:r>
          </a:p>
        </p:txBody>
      </p:sp>
    </p:spTree>
    <p:extLst>
      <p:ext uri="{BB962C8B-B14F-4D97-AF65-F5344CB8AC3E}">
        <p14:creationId xmlns:p14="http://schemas.microsoft.com/office/powerpoint/2010/main" val="2117049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01FB26-0CC3-DCF3-B764-EB563BCEE422}"/>
              </a:ext>
            </a:extLst>
          </p:cNvPr>
          <p:cNvSpPr txBox="1"/>
          <p:nvPr/>
        </p:nvSpPr>
        <p:spPr>
          <a:xfrm>
            <a:off x="533400" y="279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7D5D5"/>
                </a:solidFill>
                <a:latin typeface="Aptos" panose="020B0004020202020204" pitchFamily="34" charset="0"/>
              </a:rPr>
              <a:t>ASPOTUS · </a:t>
            </a:r>
            <a:r>
              <a:rPr lang="ru-RU" sz="900" b="1">
                <a:solidFill>
                  <a:srgbClr val="37D5D5"/>
                </a:solidFill>
                <a:latin typeface="Aptos" panose="020B0004020202020204" pitchFamily="34" charset="0"/>
              </a:rPr>
              <a:t>АРХИТЕКТУРА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D29831-4A5C-A573-50D5-FDBC4DA75D3B}"/>
              </a:ext>
            </a:extLst>
          </p:cNvPr>
          <p:cNvSpPr txBox="1"/>
          <p:nvPr/>
        </p:nvSpPr>
        <p:spPr>
          <a:xfrm>
            <a:off x="533400" y="609600"/>
            <a:ext cx="1111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>
                <a:solidFill>
                  <a:srgbClr val="F6F8FA"/>
                </a:solidFill>
                <a:latin typeface="Aptos" panose="020B0004020202020204" pitchFamily="34" charset="0"/>
              </a:rPr>
              <a:t>Технологический стек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231D28-3A44-E77A-1520-A8FD7E329DD1}"/>
              </a:ext>
            </a:extLst>
          </p:cNvPr>
          <p:cNvSpPr/>
          <p:nvPr/>
        </p:nvSpPr>
        <p:spPr>
          <a:xfrm>
            <a:off x="533400" y="1282700"/>
            <a:ext cx="889000" cy="50800"/>
          </a:xfrm>
          <a:prstGeom prst="rect">
            <a:avLst/>
          </a:prstGeom>
          <a:solidFill>
            <a:srgbClr val="37D5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6CFF8-3F27-2E81-9ADD-F72323C8364C}"/>
              </a:ext>
            </a:extLst>
          </p:cNvPr>
          <p:cNvSpPr txBox="1"/>
          <p:nvPr/>
        </p:nvSpPr>
        <p:spPr>
          <a:xfrm>
            <a:off x="533400" y="65405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FB0BF"/>
                </a:solidFill>
                <a:latin typeface="Aptos" panose="020B0004020202020204" pitchFamily="34" charset="0"/>
              </a:rPr>
              <a:t>aspotus-project</a:t>
            </a:r>
            <a:endParaRPr lang="ru-RU" sz="8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7AFDF-D783-8172-34DA-F5755E31CCEF}"/>
              </a:ext>
            </a:extLst>
          </p:cNvPr>
          <p:cNvSpPr txBox="1"/>
          <p:nvPr/>
        </p:nvSpPr>
        <p:spPr>
          <a:xfrm>
            <a:off x="11239500" y="65151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900" b="1">
                <a:solidFill>
                  <a:srgbClr val="9FB0BF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161C67E-CCC1-0416-6F88-43EB77F803C5}"/>
              </a:ext>
            </a:extLst>
          </p:cNvPr>
          <p:cNvSpPr/>
          <p:nvPr/>
        </p:nvSpPr>
        <p:spPr>
          <a:xfrm>
            <a:off x="533400" y="1689100"/>
            <a:ext cx="3365500" cy="1841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55D6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513927-54AE-7E1F-6D9A-0E3826FFE092}"/>
              </a:ext>
            </a:extLst>
          </p:cNvPr>
          <p:cNvSpPr txBox="1"/>
          <p:nvPr/>
        </p:nvSpPr>
        <p:spPr>
          <a:xfrm>
            <a:off x="711200" y="18415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55D68B"/>
                </a:solidFill>
                <a:latin typeface="Aptos" panose="020B0004020202020204" pitchFamily="34" charset="0"/>
              </a:rPr>
              <a:t>BACKEND</a:t>
            </a:r>
            <a:endParaRPr lang="ru-RU" sz="1600" b="1">
              <a:solidFill>
                <a:srgbClr val="55D68B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E7B087-9862-31EC-C8A5-B56C05C132A6}"/>
              </a:ext>
            </a:extLst>
          </p:cNvPr>
          <p:cNvSpPr txBox="1"/>
          <p:nvPr/>
        </p:nvSpPr>
        <p:spPr>
          <a:xfrm>
            <a:off x="711200" y="2235200"/>
            <a:ext cx="3009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9FB0BF"/>
                </a:solidFill>
                <a:latin typeface="Aptos" panose="020B0004020202020204" pitchFamily="34" charset="0"/>
              </a:rPr>
              <a:t>.NET 10 </a:t>
            </a:r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и </a:t>
            </a:r>
            <a:r>
              <a:rPr lang="en-US" sz="1100">
                <a:solidFill>
                  <a:srgbClr val="9FB0BF"/>
                </a:solidFill>
                <a:latin typeface="Aptos" panose="020B0004020202020204" pitchFamily="34" charset="0"/>
              </a:rPr>
              <a:t>ASP.NET Core </a:t>
            </a:r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реализуют бизнес-</a:t>
            </a:r>
            <a:r>
              <a:rPr lang="en-US" sz="1100">
                <a:solidFill>
                  <a:srgbClr val="9FB0BF"/>
                </a:solidFill>
                <a:latin typeface="Aptos" panose="020B0004020202020204" pitchFamily="34" charset="0"/>
              </a:rPr>
              <a:t>API; EF Core </a:t>
            </a:r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работает с </a:t>
            </a:r>
            <a:r>
              <a:rPr lang="en-US" sz="1100">
                <a:solidFill>
                  <a:srgbClr val="9FB0BF"/>
                </a:solidFill>
                <a:latin typeface="Aptos" panose="020B0004020202020204" pitchFamily="34" charset="0"/>
              </a:rPr>
              <a:t>SQLite.</a:t>
            </a:r>
            <a:endParaRPr lang="ru-RU" sz="11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BB3EAF4-16D6-E1AB-8955-A41C972CB5F9}"/>
              </a:ext>
            </a:extLst>
          </p:cNvPr>
          <p:cNvSpPr/>
          <p:nvPr/>
        </p:nvSpPr>
        <p:spPr>
          <a:xfrm>
            <a:off x="4267200" y="1689100"/>
            <a:ext cx="3365500" cy="1841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37D5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ECB257-4420-C2A9-6D28-0E05F3F09823}"/>
              </a:ext>
            </a:extLst>
          </p:cNvPr>
          <p:cNvSpPr txBox="1"/>
          <p:nvPr/>
        </p:nvSpPr>
        <p:spPr>
          <a:xfrm>
            <a:off x="4445000" y="18415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37D5D5"/>
                </a:solidFill>
                <a:latin typeface="Aptos" panose="020B0004020202020204" pitchFamily="34" charset="0"/>
              </a:rPr>
              <a:t>EDGE &amp; SECURITY</a:t>
            </a:r>
            <a:endParaRPr lang="ru-RU" sz="1600" b="1">
              <a:solidFill>
                <a:srgbClr val="37D5D5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C7D203-17FC-413D-3EDD-4804F54D04F2}"/>
              </a:ext>
            </a:extLst>
          </p:cNvPr>
          <p:cNvSpPr txBox="1"/>
          <p:nvPr/>
        </p:nvSpPr>
        <p:spPr>
          <a:xfrm>
            <a:off x="4445000" y="2235200"/>
            <a:ext cx="3009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YARP направляет запросы; Identity, JWT и RBAC защищают операции.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FEA5938-6362-BDDE-4333-499E41A981DB}"/>
              </a:ext>
            </a:extLst>
          </p:cNvPr>
          <p:cNvSpPr/>
          <p:nvPr/>
        </p:nvSpPr>
        <p:spPr>
          <a:xfrm>
            <a:off x="8001000" y="1689100"/>
            <a:ext cx="3365500" cy="1841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C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388237-A900-2371-10EF-79D6B01F6AE5}"/>
              </a:ext>
            </a:extLst>
          </p:cNvPr>
          <p:cNvSpPr txBox="1"/>
          <p:nvPr/>
        </p:nvSpPr>
        <p:spPr>
          <a:xfrm>
            <a:off x="8178800" y="18415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C857"/>
                </a:solidFill>
                <a:latin typeface="Aptos" panose="020B0004020202020204" pitchFamily="34" charset="0"/>
              </a:rPr>
              <a:t>DATA &amp; MESSAGING</a:t>
            </a:r>
            <a:endParaRPr lang="ru-RU" sz="1600" b="1">
              <a:solidFill>
                <a:srgbClr val="FFC857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5E8A9-AA39-9DEB-F270-5938A24BF8CE}"/>
              </a:ext>
            </a:extLst>
          </p:cNvPr>
          <p:cNvSpPr txBox="1"/>
          <p:nvPr/>
        </p:nvSpPr>
        <p:spPr>
          <a:xfrm>
            <a:off x="8178800" y="2235200"/>
            <a:ext cx="3009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Redis ускоряет чтение; RabbitMQ и Outbox / Inbox доставляют события.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73EA79FA-601C-CEEF-910F-D9225242AEF0}"/>
              </a:ext>
            </a:extLst>
          </p:cNvPr>
          <p:cNvSpPr/>
          <p:nvPr/>
        </p:nvSpPr>
        <p:spPr>
          <a:xfrm>
            <a:off x="533400" y="3937000"/>
            <a:ext cx="3365500" cy="1841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6E9EC5-6B88-0445-ECE8-400745EC29CB}"/>
              </a:ext>
            </a:extLst>
          </p:cNvPr>
          <p:cNvSpPr txBox="1"/>
          <p:nvPr/>
        </p:nvSpPr>
        <p:spPr>
          <a:xfrm>
            <a:off x="711200" y="40894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4DA3FF"/>
                </a:solidFill>
                <a:latin typeface="Aptos" panose="020B0004020202020204" pitchFamily="34" charset="0"/>
              </a:rPr>
              <a:t>FRONTEND</a:t>
            </a:r>
            <a:endParaRPr lang="ru-RU" sz="1600" b="1">
              <a:solidFill>
                <a:srgbClr val="4DA3FF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61E2F3-E16A-C8A6-C9EF-D947DB6C33F1}"/>
              </a:ext>
            </a:extLst>
          </p:cNvPr>
          <p:cNvSpPr txBox="1"/>
          <p:nvPr/>
        </p:nvSpPr>
        <p:spPr>
          <a:xfrm>
            <a:off x="711200" y="4483100"/>
            <a:ext cx="3009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9FB0BF"/>
                </a:solidFill>
                <a:latin typeface="Aptos" panose="020B0004020202020204" pitchFamily="34" charset="0"/>
              </a:rPr>
              <a:t>React 19 + Vite 8; Material UI </a:t>
            </a:r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для </a:t>
            </a:r>
            <a:r>
              <a:rPr lang="en-US" sz="1100">
                <a:solidFill>
                  <a:srgbClr val="9FB0BF"/>
                </a:solidFill>
                <a:latin typeface="Aptos" panose="020B0004020202020204" pitchFamily="34" charset="0"/>
              </a:rPr>
              <a:t>admin, React Bootstrap </a:t>
            </a:r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для </a:t>
            </a:r>
            <a:r>
              <a:rPr lang="en-US" sz="1100">
                <a:solidFill>
                  <a:srgbClr val="9FB0BF"/>
                </a:solidFill>
                <a:latin typeface="Aptos" panose="020B0004020202020204" pitchFamily="34" charset="0"/>
              </a:rPr>
              <a:t>customer.</a:t>
            </a:r>
            <a:endParaRPr lang="ru-RU" sz="11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794C442B-8433-5D8A-3586-F6149F3B6F18}"/>
              </a:ext>
            </a:extLst>
          </p:cNvPr>
          <p:cNvSpPr/>
          <p:nvPr/>
        </p:nvSpPr>
        <p:spPr>
          <a:xfrm>
            <a:off x="4267200" y="3937000"/>
            <a:ext cx="3365500" cy="1841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A78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57559-71D3-3692-EF48-FE5859E0D945}"/>
              </a:ext>
            </a:extLst>
          </p:cNvPr>
          <p:cNvSpPr txBox="1"/>
          <p:nvPr/>
        </p:nvSpPr>
        <p:spPr>
          <a:xfrm>
            <a:off x="4445000" y="40894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A78BFA"/>
                </a:solidFill>
                <a:latin typeface="Aptos" panose="020B0004020202020204" pitchFamily="34" charset="0"/>
              </a:rPr>
              <a:t>QUALITY</a:t>
            </a:r>
            <a:endParaRPr lang="ru-RU" sz="1600" b="1">
              <a:solidFill>
                <a:srgbClr val="A78BFA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103865-CC15-623B-E238-8EE679A234E9}"/>
              </a:ext>
            </a:extLst>
          </p:cNvPr>
          <p:cNvSpPr txBox="1"/>
          <p:nvPr/>
        </p:nvSpPr>
        <p:spPr>
          <a:xfrm>
            <a:off x="4445000" y="4483100"/>
            <a:ext cx="3009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xUnit и Vitest проверяют код; Playwright проходит реальные сценарии в браузере.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305DD104-6C41-C062-D221-AADECDF5AE95}"/>
              </a:ext>
            </a:extLst>
          </p:cNvPr>
          <p:cNvSpPr/>
          <p:nvPr/>
        </p:nvSpPr>
        <p:spPr>
          <a:xfrm>
            <a:off x="8001000" y="3937000"/>
            <a:ext cx="3365500" cy="1841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FF6B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9728FD-67ED-2E6B-89D2-DAE5D26F3CE8}"/>
              </a:ext>
            </a:extLst>
          </p:cNvPr>
          <p:cNvSpPr txBox="1"/>
          <p:nvPr/>
        </p:nvSpPr>
        <p:spPr>
          <a:xfrm>
            <a:off x="8178800" y="4089400"/>
            <a:ext cx="3009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6B6B"/>
                </a:solidFill>
                <a:latin typeface="Aptos" panose="020B0004020202020204" pitchFamily="34" charset="0"/>
              </a:rPr>
              <a:t>DELIVERY</a:t>
            </a:r>
            <a:endParaRPr lang="ru-RU" sz="1600" b="1">
              <a:solidFill>
                <a:srgbClr val="FF6B6B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ABD7C-2FCA-739E-DFCE-195FAEB64B90}"/>
              </a:ext>
            </a:extLst>
          </p:cNvPr>
          <p:cNvSpPr txBox="1"/>
          <p:nvPr/>
        </p:nvSpPr>
        <p:spPr>
          <a:xfrm>
            <a:off x="8178800" y="4483100"/>
            <a:ext cx="3009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00">
                <a:solidFill>
                  <a:srgbClr val="9FB0BF"/>
                </a:solidFill>
                <a:latin typeface="Aptos" panose="020B0004020202020204" pitchFamily="34" charset="0"/>
              </a:rPr>
              <a:t>Dockerfiles собирают образы; Compose запускает систему и подключает volumes.</a:t>
            </a:r>
          </a:p>
        </p:txBody>
      </p:sp>
    </p:spTree>
    <p:extLst>
      <p:ext uri="{BB962C8B-B14F-4D97-AF65-F5344CB8AC3E}">
        <p14:creationId xmlns:p14="http://schemas.microsoft.com/office/powerpoint/2010/main" val="283095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55EF4C-1706-A4A7-A2FC-49046978478A}"/>
              </a:ext>
            </a:extLst>
          </p:cNvPr>
          <p:cNvSpPr txBox="1"/>
          <p:nvPr/>
        </p:nvSpPr>
        <p:spPr>
          <a:xfrm>
            <a:off x="533400" y="279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7D5D5"/>
                </a:solidFill>
                <a:latin typeface="Aptos" panose="020B0004020202020204" pitchFamily="34" charset="0"/>
              </a:rPr>
              <a:t>ASPOTUS · </a:t>
            </a:r>
            <a:r>
              <a:rPr lang="ru-RU" sz="900" b="1">
                <a:solidFill>
                  <a:srgbClr val="37D5D5"/>
                </a:solidFill>
                <a:latin typeface="Aptos" panose="020B0004020202020204" pitchFamily="34" charset="0"/>
              </a:rPr>
              <a:t>АРХИТЕКТУРА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826E95-A6C1-4954-68C7-164C74D3DF0F}"/>
              </a:ext>
            </a:extLst>
          </p:cNvPr>
          <p:cNvSpPr txBox="1"/>
          <p:nvPr/>
        </p:nvSpPr>
        <p:spPr>
          <a:xfrm>
            <a:off x="533400" y="609600"/>
            <a:ext cx="1111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>
                <a:solidFill>
                  <a:srgbClr val="F6F8FA"/>
                </a:solidFill>
                <a:latin typeface="Aptos" panose="020B0004020202020204" pitchFamily="34" charset="0"/>
              </a:rPr>
              <a:t>Как развивать архитектуру дальше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23C7334-2A19-D5DC-434E-B8B162D2750E}"/>
              </a:ext>
            </a:extLst>
          </p:cNvPr>
          <p:cNvSpPr/>
          <p:nvPr/>
        </p:nvSpPr>
        <p:spPr>
          <a:xfrm>
            <a:off x="533400" y="1282700"/>
            <a:ext cx="889000" cy="50800"/>
          </a:xfrm>
          <a:prstGeom prst="rect">
            <a:avLst/>
          </a:prstGeom>
          <a:solidFill>
            <a:srgbClr val="37D5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0AD567-8CD8-E0A7-9A33-5B2CF2223D86}"/>
              </a:ext>
            </a:extLst>
          </p:cNvPr>
          <p:cNvSpPr txBox="1"/>
          <p:nvPr/>
        </p:nvSpPr>
        <p:spPr>
          <a:xfrm>
            <a:off x="533400" y="65405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FB0BF"/>
                </a:solidFill>
                <a:latin typeface="Aptos" panose="020B0004020202020204" pitchFamily="34" charset="0"/>
              </a:rPr>
              <a:t>aspotus-project</a:t>
            </a:r>
            <a:endParaRPr lang="ru-RU" sz="8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F4EDC6-4FB0-53FD-650A-65FF775BBD39}"/>
              </a:ext>
            </a:extLst>
          </p:cNvPr>
          <p:cNvSpPr txBox="1"/>
          <p:nvPr/>
        </p:nvSpPr>
        <p:spPr>
          <a:xfrm>
            <a:off x="11239500" y="65151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900" b="1">
                <a:solidFill>
                  <a:srgbClr val="9FB0BF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CB134F6-2204-4CB8-94D8-8DA823655561}"/>
              </a:ext>
            </a:extLst>
          </p:cNvPr>
          <p:cNvSpPr/>
          <p:nvPr/>
        </p:nvSpPr>
        <p:spPr>
          <a:xfrm>
            <a:off x="698500" y="1714500"/>
            <a:ext cx="4762500" cy="3937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55D6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E43C08-8301-1B6D-4D7B-1768CE35CAFA}"/>
              </a:ext>
            </a:extLst>
          </p:cNvPr>
          <p:cNvSpPr txBox="1"/>
          <p:nvPr/>
        </p:nvSpPr>
        <p:spPr>
          <a:xfrm>
            <a:off x="876300" y="1866900"/>
            <a:ext cx="4406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b="1">
                <a:solidFill>
                  <a:srgbClr val="55D68B"/>
                </a:solidFill>
                <a:latin typeface="Aptos" panose="020B0004020202020204" pitchFamily="34" charset="0"/>
              </a:rPr>
              <a:t>УЖЕ ЕСТЬ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D55842-276E-3182-4161-A5EBED524322}"/>
              </a:ext>
            </a:extLst>
          </p:cNvPr>
          <p:cNvSpPr txBox="1"/>
          <p:nvPr/>
        </p:nvSpPr>
        <p:spPr>
          <a:xfrm>
            <a:off x="1041400" y="2413000"/>
            <a:ext cx="406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>
                <a:solidFill>
                  <a:srgbClr val="F6F8FA"/>
                </a:solidFill>
                <a:latin typeface="Aptos" panose="020B0004020202020204" pitchFamily="34" charset="0"/>
              </a:rPr>
              <a:t>•  Изолированные сервисы и базы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6E78C3-033A-35D8-C3DA-A13822FCF1FF}"/>
              </a:ext>
            </a:extLst>
          </p:cNvPr>
          <p:cNvSpPr txBox="1"/>
          <p:nvPr/>
        </p:nvSpPr>
        <p:spPr>
          <a:xfrm>
            <a:off x="1041400" y="3101975"/>
            <a:ext cx="406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F6F8FA"/>
                </a:solidFill>
                <a:latin typeface="Aptos" panose="020B0004020202020204" pitchFamily="34" charset="0"/>
              </a:rPr>
              <a:t>•  Gateway + RBAC</a:t>
            </a:r>
            <a:endParaRPr lang="ru-RU" sz="1500">
              <a:solidFill>
                <a:srgbClr val="F6F8FA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D9D727-D919-F7A5-D649-F220ADD0E35B}"/>
              </a:ext>
            </a:extLst>
          </p:cNvPr>
          <p:cNvSpPr txBox="1"/>
          <p:nvPr/>
        </p:nvSpPr>
        <p:spPr>
          <a:xfrm>
            <a:off x="1041400" y="3790950"/>
            <a:ext cx="406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>
                <a:solidFill>
                  <a:srgbClr val="F6F8FA"/>
                </a:solidFill>
                <a:latin typeface="Aptos" panose="020B0004020202020204" pitchFamily="34" charset="0"/>
              </a:rPr>
              <a:t>•  Надёжные события </a:t>
            </a:r>
            <a:r>
              <a:rPr lang="en-US" sz="1500">
                <a:solidFill>
                  <a:srgbClr val="F6F8FA"/>
                </a:solidFill>
                <a:latin typeface="Aptos" panose="020B0004020202020204" pitchFamily="34" charset="0"/>
              </a:rPr>
              <a:t>Outbox / Inbox</a:t>
            </a:r>
            <a:endParaRPr lang="ru-RU" sz="1500">
              <a:solidFill>
                <a:srgbClr val="F6F8F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B26B1-645A-93BE-7F36-59945260F836}"/>
              </a:ext>
            </a:extLst>
          </p:cNvPr>
          <p:cNvSpPr txBox="1"/>
          <p:nvPr/>
        </p:nvSpPr>
        <p:spPr>
          <a:xfrm>
            <a:off x="1041400" y="4479925"/>
            <a:ext cx="406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F6F8FA"/>
                </a:solidFill>
                <a:latin typeface="Aptos" panose="020B0004020202020204" pitchFamily="34" charset="0"/>
              </a:rPr>
              <a:t>•  Docker Compose </a:t>
            </a:r>
            <a:r>
              <a:rPr lang="ru-RU" sz="1500">
                <a:solidFill>
                  <a:srgbClr val="F6F8FA"/>
                </a:solidFill>
                <a:latin typeface="Aptos" panose="020B0004020202020204" pitchFamily="34" charset="0"/>
              </a:rPr>
              <a:t>и автотесты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4387D45-5A6C-C12F-36A7-97C8B01ED5C3}"/>
              </a:ext>
            </a:extLst>
          </p:cNvPr>
          <p:cNvSpPr/>
          <p:nvPr/>
        </p:nvSpPr>
        <p:spPr>
          <a:xfrm>
            <a:off x="6731000" y="1714500"/>
            <a:ext cx="4762500" cy="39370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37D5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8DF119-D47B-A292-C9E2-616FB6BBBB54}"/>
              </a:ext>
            </a:extLst>
          </p:cNvPr>
          <p:cNvSpPr txBox="1"/>
          <p:nvPr/>
        </p:nvSpPr>
        <p:spPr>
          <a:xfrm>
            <a:off x="6908800" y="1866900"/>
            <a:ext cx="4406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b="1">
                <a:solidFill>
                  <a:srgbClr val="37D5D5"/>
                </a:solidFill>
                <a:latin typeface="Aptos" panose="020B0004020202020204" pitchFamily="34" charset="0"/>
              </a:rPr>
              <a:t>СЛЕДУЮЩИЙ УРОВЕНЬ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E967B2-8435-AF77-468D-DCC70AC22864}"/>
              </a:ext>
            </a:extLst>
          </p:cNvPr>
          <p:cNvSpPr txBox="1"/>
          <p:nvPr/>
        </p:nvSpPr>
        <p:spPr>
          <a:xfrm>
            <a:off x="7073900" y="2349500"/>
            <a:ext cx="406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400">
                <a:solidFill>
                  <a:srgbClr val="F6F8FA"/>
                </a:solidFill>
                <a:latin typeface="Aptos" panose="020B0004020202020204" pitchFamily="34" charset="0"/>
              </a:rPr>
              <a:t>•  Secrets manager и ротация ключей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A9DAB8-2D53-63A5-B02B-31ADA09BAC4F}"/>
              </a:ext>
            </a:extLst>
          </p:cNvPr>
          <p:cNvSpPr txBox="1"/>
          <p:nvPr/>
        </p:nvSpPr>
        <p:spPr>
          <a:xfrm>
            <a:off x="7073900" y="2941320"/>
            <a:ext cx="406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F6F8FA"/>
                </a:solidFill>
                <a:latin typeface="Aptos" panose="020B0004020202020204" pitchFamily="34" charset="0"/>
              </a:rPr>
              <a:t>•  PostgreSQL </a:t>
            </a:r>
            <a:r>
              <a:rPr lang="ru-RU" sz="1400">
                <a:solidFill>
                  <a:srgbClr val="F6F8FA"/>
                </a:solidFill>
                <a:latin typeface="Aptos" panose="020B0004020202020204" pitchFamily="34" charset="0"/>
              </a:rPr>
              <a:t>и </a:t>
            </a:r>
            <a:r>
              <a:rPr lang="en-US" sz="1400">
                <a:solidFill>
                  <a:srgbClr val="F6F8FA"/>
                </a:solidFill>
                <a:latin typeface="Aptos" panose="020B0004020202020204" pitchFamily="34" charset="0"/>
              </a:rPr>
              <a:t>production migrations</a:t>
            </a:r>
            <a:endParaRPr lang="ru-RU" sz="1400">
              <a:solidFill>
                <a:srgbClr val="F6F8FA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143F22-A722-15EB-E7FF-CF13D12FB7C8}"/>
              </a:ext>
            </a:extLst>
          </p:cNvPr>
          <p:cNvSpPr txBox="1"/>
          <p:nvPr/>
        </p:nvSpPr>
        <p:spPr>
          <a:xfrm>
            <a:off x="7073900" y="3533140"/>
            <a:ext cx="406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F6F8FA"/>
                </a:solidFill>
                <a:latin typeface="Aptos" panose="020B0004020202020204" pitchFamily="34" charset="0"/>
              </a:rPr>
              <a:t>•  OpenTelemetry: traces, metrics, logs</a:t>
            </a:r>
            <a:endParaRPr lang="ru-RU" sz="1400">
              <a:solidFill>
                <a:srgbClr val="F6F8FA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1C5B4C-FE91-53AE-2DE5-6C6386D95D69}"/>
              </a:ext>
            </a:extLst>
          </p:cNvPr>
          <p:cNvSpPr txBox="1"/>
          <p:nvPr/>
        </p:nvSpPr>
        <p:spPr>
          <a:xfrm>
            <a:off x="7073900" y="4124960"/>
            <a:ext cx="406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F6F8FA"/>
                </a:solidFill>
                <a:latin typeface="Aptos" panose="020B0004020202020204" pitchFamily="34" charset="0"/>
              </a:rPr>
              <a:t>•  Retry / circuit breaker / RabbitMQ DLQ</a:t>
            </a:r>
            <a:endParaRPr lang="ru-RU" sz="1400">
              <a:solidFill>
                <a:srgbClr val="F6F8FA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5BDD03-87BD-58E1-96A7-D3A8A02B14D5}"/>
              </a:ext>
            </a:extLst>
          </p:cNvPr>
          <p:cNvSpPr txBox="1"/>
          <p:nvPr/>
        </p:nvSpPr>
        <p:spPr>
          <a:xfrm>
            <a:off x="7073900" y="4716780"/>
            <a:ext cx="406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F6F8FA"/>
                </a:solidFill>
                <a:latin typeface="Aptos" panose="020B0004020202020204" pitchFamily="34" charset="0"/>
              </a:rPr>
              <a:t>•  CI/CD, API versioning, container orchestration</a:t>
            </a:r>
            <a:endParaRPr lang="ru-RU" sz="1400">
              <a:solidFill>
                <a:srgbClr val="F6F8FA"/>
              </a:solidFill>
              <a:latin typeface="Aptos" panose="020B0004020202020204" pitchFamily="34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40C0AF38-86A4-512B-FCDB-A5960D46A600}"/>
              </a:ext>
            </a:extLst>
          </p:cNvPr>
          <p:cNvCxnSpPr/>
          <p:nvPr/>
        </p:nvCxnSpPr>
        <p:spPr>
          <a:xfrm>
            <a:off x="5651500" y="3683000"/>
            <a:ext cx="889000" cy="0"/>
          </a:xfrm>
          <a:prstGeom prst="straightConnector1">
            <a:avLst/>
          </a:prstGeom>
          <a:ln w="50800">
            <a:solidFill>
              <a:srgbClr val="37D5D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742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638DF057-DA6A-A81A-9B78-FE4A32E8E4FB}"/>
              </a:ext>
            </a:extLst>
          </p:cNvPr>
          <p:cNvSpPr/>
          <p:nvPr/>
        </p:nvSpPr>
        <p:spPr>
          <a:xfrm>
            <a:off x="-1524000" y="3302000"/>
            <a:ext cx="5334000" cy="5334000"/>
          </a:xfrm>
          <a:prstGeom prst="ellipse">
            <a:avLst/>
          </a:prstGeom>
          <a:solidFill>
            <a:srgbClr val="37D5D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041AA7D1-DB44-76B7-9C99-5550A6520CAC}"/>
              </a:ext>
            </a:extLst>
          </p:cNvPr>
          <p:cNvSpPr/>
          <p:nvPr/>
        </p:nvSpPr>
        <p:spPr>
          <a:xfrm>
            <a:off x="698500" y="889000"/>
            <a:ext cx="1143000" cy="355600"/>
          </a:xfrm>
          <a:prstGeom prst="roundRect">
            <a:avLst/>
          </a:prstGeom>
          <a:solidFill>
            <a:srgbClr val="55D6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8C199E-A0D3-16F7-F608-7B0AF9086243}"/>
              </a:ext>
            </a:extLst>
          </p:cNvPr>
          <p:cNvSpPr txBox="1"/>
          <p:nvPr/>
        </p:nvSpPr>
        <p:spPr>
          <a:xfrm>
            <a:off x="698500" y="952500"/>
            <a:ext cx="114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000" b="1">
                <a:solidFill>
                  <a:srgbClr val="081018"/>
                </a:solidFill>
                <a:latin typeface="Aptos" panose="020B0004020202020204" pitchFamily="34" charset="0"/>
              </a:rPr>
              <a:t>ИТОГ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755111-47B3-0A2B-D820-056689E6995A}"/>
              </a:ext>
            </a:extLst>
          </p:cNvPr>
          <p:cNvSpPr txBox="1"/>
          <p:nvPr/>
        </p:nvSpPr>
        <p:spPr>
          <a:xfrm>
            <a:off x="698500" y="1714500"/>
            <a:ext cx="102870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200" b="1">
                <a:solidFill>
                  <a:srgbClr val="F6F8FA"/>
                </a:solidFill>
                <a:latin typeface="Aptos" panose="020B0004020202020204" pitchFamily="34" charset="0"/>
              </a:rPr>
              <a:t>Aspotus — система с ясными границами ответственности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6ADCC8-2FE7-9FA9-B134-8D8C308C9CBD}"/>
              </a:ext>
            </a:extLst>
          </p:cNvPr>
          <p:cNvSpPr txBox="1"/>
          <p:nvPr/>
        </p:nvSpPr>
        <p:spPr>
          <a:xfrm>
            <a:off x="736600" y="3111500"/>
            <a:ext cx="10033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900">
                <a:solidFill>
                  <a:srgbClr val="9FB0BF"/>
                </a:solidFill>
                <a:latin typeface="Aptos" panose="020B0004020202020204" pitchFamily="34" charset="0"/>
              </a:rPr>
              <a:t>Раздельные данные · контролируемый доступ · доверенные цены · резервирование · надёжные события · автоматические проверки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2F7EB0A-8D60-695C-9CCE-E6F140FFAC6E}"/>
              </a:ext>
            </a:extLst>
          </p:cNvPr>
          <p:cNvSpPr/>
          <p:nvPr/>
        </p:nvSpPr>
        <p:spPr>
          <a:xfrm>
            <a:off x="6413500" y="4635500"/>
            <a:ext cx="4953000" cy="1333500"/>
          </a:xfrm>
          <a:prstGeom prst="roundRect">
            <a:avLst/>
          </a:prstGeom>
          <a:solidFill>
            <a:srgbClr val="101C27"/>
          </a:solidFill>
          <a:ln w="19050">
            <a:solidFill>
              <a:srgbClr val="37D5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8886A3-5469-F9FA-3F1A-C0427A76419E}"/>
              </a:ext>
            </a:extLst>
          </p:cNvPr>
          <p:cNvSpPr txBox="1"/>
          <p:nvPr/>
        </p:nvSpPr>
        <p:spPr>
          <a:xfrm>
            <a:off x="6591300" y="47879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b="1">
                <a:solidFill>
                  <a:srgbClr val="37D5D5"/>
                </a:solidFill>
                <a:latin typeface="Aptos" panose="020B0004020202020204" pitchFamily="34" charset="0"/>
              </a:rPr>
              <a:t>Главная архитектурная идея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7BA243-0305-EAB9-3B06-37BA7879CE28}"/>
              </a:ext>
            </a:extLst>
          </p:cNvPr>
          <p:cNvSpPr txBox="1"/>
          <p:nvPr/>
        </p:nvSpPr>
        <p:spPr>
          <a:xfrm>
            <a:off x="6591300" y="5181600"/>
            <a:ext cx="4597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00">
                <a:solidFill>
                  <a:srgbClr val="9FB0BF"/>
                </a:solidFill>
                <a:latin typeface="Aptos" panose="020B0004020202020204" pitchFamily="34" charset="0"/>
              </a:rPr>
              <a:t>Каждый сервис владеет своей областью и данными, а согласованность достигается явными контрактами и идемпотентными процессами.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2F0416-DF6A-ED67-A66E-186D001D58ED}"/>
              </a:ext>
            </a:extLst>
          </p:cNvPr>
          <p:cNvSpPr txBox="1"/>
          <p:nvPr/>
        </p:nvSpPr>
        <p:spPr>
          <a:xfrm>
            <a:off x="736600" y="5562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400" b="1">
                <a:solidFill>
                  <a:srgbClr val="F6F8FA"/>
                </a:solidFill>
                <a:latin typeface="Aptos" panose="020B0004020202020204" pitchFamily="34" charset="0"/>
              </a:rPr>
              <a:t>Вопросы?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2D37F8-365D-0AF5-BC84-D9926AEE2D53}"/>
              </a:ext>
            </a:extLst>
          </p:cNvPr>
          <p:cNvSpPr txBox="1"/>
          <p:nvPr/>
        </p:nvSpPr>
        <p:spPr>
          <a:xfrm>
            <a:off x="533400" y="65405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FB0BF"/>
                </a:solidFill>
                <a:latin typeface="Aptos" panose="020B0004020202020204" pitchFamily="34" charset="0"/>
              </a:rPr>
              <a:t>aspotus-project</a:t>
            </a:r>
            <a:endParaRPr lang="ru-RU" sz="800">
              <a:solidFill>
                <a:srgbClr val="9FB0BF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EF3521-6B31-FAB4-ABA1-8C01A8E45189}"/>
              </a:ext>
            </a:extLst>
          </p:cNvPr>
          <p:cNvSpPr txBox="1"/>
          <p:nvPr/>
        </p:nvSpPr>
        <p:spPr>
          <a:xfrm>
            <a:off x="11239500" y="65151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900" b="1">
                <a:solidFill>
                  <a:srgbClr val="9FB0BF"/>
                </a:solidFill>
                <a:latin typeface="Aptos" panose="020B0004020202020204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9978965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1401</Words>
  <Application>Microsoft Office PowerPoint</Application>
  <PresentationFormat>Произвольный</PresentationFormat>
  <Paragraphs>259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</dc:creator>
  <cp:lastModifiedBy>Anton</cp:lastModifiedBy>
  <cp:revision>1</cp:revision>
  <dcterms:created xsi:type="dcterms:W3CDTF">2026-09-08T11:17:29Z</dcterms:created>
  <dcterms:modified xsi:type="dcterms:W3CDTF">2026-09-08T11:17:29Z</dcterms:modified>
</cp:coreProperties>
</file>